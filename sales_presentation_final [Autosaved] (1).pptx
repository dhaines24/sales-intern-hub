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73" r:id="rId6"/>
    <p:sldId id="272" r:id="rId7"/>
    <p:sldId id="275" r:id="rId8"/>
    <p:sldId id="258" r:id="rId9"/>
    <p:sldId id="259" r:id="rId10"/>
    <p:sldId id="271" r:id="rId11"/>
    <p:sldId id="262" r:id="rId12"/>
    <p:sldId id="270" r:id="rId13"/>
    <p:sldId id="263" r:id="rId14"/>
    <p:sldId id="264" r:id="rId15"/>
    <p:sldId id="265" r:id="rId16"/>
    <p:sldId id="269" r:id="rId17"/>
    <p:sldId id="274" r:id="rId18"/>
    <p:sldId id="277" r:id="rId19"/>
    <p:sldId id="261" r:id="rId20"/>
    <p:sldId id="266" r:id="rId21"/>
    <p:sldId id="267" r:id="rId22"/>
    <p:sldId id="279" r:id="rId23"/>
    <p:sldId id="26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7" d="100"/>
          <a:sy n="197" d="100"/>
        </p:scale>
        <p:origin x="168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123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50E0-21C7-794B-A708-F8FB08E0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FAB9A-CAE2-C464-26B1-A3834AC9E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E1FA6-1A12-4A79-4A60-D374D9D36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74A74-2336-C630-BFA2-D785021D3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74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3258-CAB6-BD2A-CDDA-2AE94D13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8956B-BBB2-CBDB-433B-147B7A10C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473F9-A6D6-28A7-4A47-6C42E18CE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A2442-D038-2663-E9BB-52C94725A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4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24B6-43D6-8EBC-53B0-2DFB4F5B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580A6-B314-3F61-E654-5123F9044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9D11C-9A25-81C4-A0D2-659FE14E6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EE7C4-7CEA-67BF-8B0B-2010D7BA2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46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0D94-E29B-F2C4-1FB3-44A09BD9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9F64E-C78F-1A37-AA15-CA43BBACF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A1487-25F3-D1CC-BA1F-BFDDB5253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6DBF-E1DD-758E-97AB-39867BCFB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18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05ED2-F6C3-3B57-F64D-D81CC435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B0D27-06F0-3FD7-E7A5-8413ED20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6606F-0EE8-4C24-2CBE-F22D40798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5FFF4-C77A-EC3C-1029-575E25E9C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43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A831-584E-C1E5-E6CE-71A51FF3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5E58E-ED2B-3CF1-9298-9FAE7E2BC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6BE76-7132-2FF6-F9A9-8B53C5822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48D5-6D26-7FDC-E1DF-E85861960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16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3EE0-D216-0E8F-82AD-AB5779CAA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0128E-23AF-6859-79D4-F787A8855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5E3D2-0587-57EC-DE0C-75B2FDE7C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6D80B-61CB-7953-26E6-FF2C2D307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5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063B-B380-109E-FB28-71212535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74160-DA62-65F9-5D52-1CB4A640E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78D18-2A93-94F3-DC1C-D5498171B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A4D7D-599F-BFCA-8AD1-B4280BB17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8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C9973A">
              <a:alpha val="12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MASTER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of Selling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Tom Hopkins' bestselling framework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22860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Training Seminar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6243D-E0E3-91B7-4F16-88B4E184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FC9AFB5-D8CD-C584-9E58-13CA9A81454A}"/>
              </a:ext>
            </a:extLst>
          </p:cNvPr>
          <p:cNvSpPr/>
          <p:nvPr/>
        </p:nvSpPr>
        <p:spPr>
          <a:xfrm>
            <a:off x="457199" y="173524"/>
            <a:ext cx="8411421" cy="4652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"What separates the top 5% of earners from everyone else in any field?"</a:t>
            </a:r>
          </a:p>
        </p:txBody>
      </p:sp>
    </p:spTree>
    <p:extLst>
      <p:ext uri="{BB962C8B-B14F-4D97-AF65-F5344CB8AC3E}">
        <p14:creationId xmlns:p14="http://schemas.microsoft.com/office/powerpoint/2010/main" val="29279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80018-3C46-3103-4137-F507D70D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79DEE3B-ABBB-91FE-1D1D-37668316AD6D}"/>
              </a:ext>
            </a:extLst>
          </p:cNvPr>
          <p:cNvSpPr/>
          <p:nvPr/>
        </p:nvSpPr>
        <p:spPr>
          <a:xfrm>
            <a:off x="457199" y="173524"/>
            <a:ext cx="8411421" cy="4652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Sales?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5412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9A10B-41DB-0439-8A56-DBFC56D9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F6B640D-0EAB-6FEC-2393-D3E5D5A25978}"/>
              </a:ext>
            </a:extLst>
          </p:cNvPr>
          <p:cNvSpPr/>
          <p:nvPr/>
        </p:nvSpPr>
        <p:spPr>
          <a:xfrm>
            <a:off x="457199" y="173524"/>
            <a:ext cx="8411421" cy="4652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AB669-E697-8480-1A50-3BAAFC5695BF}"/>
              </a:ext>
            </a:extLst>
          </p:cNvPr>
          <p:cNvSpPr txBox="1"/>
          <p:nvPr/>
        </p:nvSpPr>
        <p:spPr>
          <a:xfrm>
            <a:off x="1758188" y="2001791"/>
            <a:ext cx="56276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    Help people make decisions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You are the economy 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Match people with solutions they didn’t know about 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Give people permission to have what they want </a:t>
            </a:r>
          </a:p>
          <a:p>
            <a:pPr marL="285750" indent="-285750" algn="ctr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Source of trust in a low trust world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ADD58-01E8-0A9E-79C3-5BE60D6C6DE0}"/>
              </a:ext>
            </a:extLst>
          </p:cNvPr>
          <p:cNvSpPr txBox="1"/>
          <p:nvPr/>
        </p:nvSpPr>
        <p:spPr>
          <a:xfrm>
            <a:off x="2543725" y="1210963"/>
            <a:ext cx="4238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Selfless Reasons to be Salesman </a:t>
            </a:r>
          </a:p>
        </p:txBody>
      </p:sp>
    </p:spTree>
    <p:extLst>
      <p:ext uri="{BB962C8B-B14F-4D97-AF65-F5344CB8AC3E}">
        <p14:creationId xmlns:p14="http://schemas.microsoft.com/office/powerpoint/2010/main" val="401905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77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Product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Any Lead Ever Could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205740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3D5A80">
              <a:alpha val="4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19" y="2103120"/>
            <a:ext cx="50853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You can't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you know your offering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3500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 is the </a:t>
            </a:r>
            <a:r>
              <a:rPr lang="en-US" sz="10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it you can't prospect, present, or close effectively.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761488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3D5A80">
              <a:alpha val="4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Know your offering's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b="1" dirty="0"/>
          </a:p>
        </p:txBody>
      </p:sp>
      <p:sp>
        <p:nvSpPr>
          <p:cNvPr id="11" name="Text 8"/>
          <p:cNvSpPr/>
          <p:nvPr/>
        </p:nvSpPr>
        <p:spPr>
          <a:xfrm>
            <a:off x="502920" y="305409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has a sweet spot. Trying to sell it outside those limits gets you exposed fast.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465576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3D5A80">
              <a:alpha val="4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Become the doctor and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you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</a:t>
            </a:r>
            <a:endParaRPr lang="en-US" sz="1100" b="1" dirty="0"/>
          </a:p>
        </p:txBody>
      </p:sp>
      <p:sp>
        <p:nvSpPr>
          <p:cNvPr id="14" name="Text 11"/>
          <p:cNvSpPr/>
          <p:nvPr/>
        </p:nvSpPr>
        <p:spPr>
          <a:xfrm>
            <a:off x="502920" y="37581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questions. Gather data. Only when you've zeroed in do you present the solution.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169664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3D5A80">
              <a:alpha val="4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4215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Know the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r>
              <a:rPr lang="en-US" sz="11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what qualifications buyers </a:t>
            </a: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b="1" dirty="0"/>
          </a:p>
        </p:txBody>
      </p:sp>
      <p:sp>
        <p:nvSpPr>
          <p:cNvPr id="17" name="Text 14"/>
          <p:cNvSpPr/>
          <p:nvPr/>
        </p:nvSpPr>
        <p:spPr>
          <a:xfrm>
            <a:off x="502920" y="446227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lets you decide who should — and shouldn't — become your client.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Selling Climate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19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544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People Who Can Buy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20116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spend hours with someone who can't say yes. Find the real decision-maker — the gnome behind the committee — and work with them. In family sales, identify which partner holds the veto.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819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5544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Sell Logic — Arouse Emotions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92040" y="20116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a gun without a trigger. Buyers purchase on emotion — pride of ownership, security, status, family love — then justify with facts. Hit the emotional hot buttons first.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3246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107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383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Rejection Words with Go-Ahead Terms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920" y="3840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"Cost" → "Total Investment" | "Monthly Payment" → "Monthly Amount" | "Contract" → "Agreement" | "Buy" → "Own". Words create images. Negative images destroy sales in seconds.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09160" y="324612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1071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383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Senses That Sell Emotions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892040" y="3840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say paints a picture. One negative image can wipe out ten positives. Watch your tone, grooming, and body language — prospects react emotionally before they think logically.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7E9D1-89B0-BCE7-57FD-E83CD845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B5DD432-F6C4-4407-DDAF-C27687609961}"/>
              </a:ext>
            </a:extLst>
          </p:cNvPr>
          <p:cNvSpPr/>
          <p:nvPr/>
        </p:nvSpPr>
        <p:spPr>
          <a:xfrm>
            <a:off x="457200" y="56464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</a:rPr>
              <a:t>Rule #1: ASK QUESTIONS 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9CA716-2846-D131-EED6-EFFD4142FC8A}"/>
              </a:ext>
            </a:extLst>
          </p:cNvPr>
          <p:cNvSpPr/>
          <p:nvPr/>
        </p:nvSpPr>
        <p:spPr>
          <a:xfrm>
            <a:off x="457200" y="1151817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CABC79-8DFA-FDFD-D53D-0D7CF255E3CA}"/>
              </a:ext>
            </a:extLst>
          </p:cNvPr>
          <p:cNvSpPr/>
          <p:nvPr/>
        </p:nvSpPr>
        <p:spPr>
          <a:xfrm>
            <a:off x="318952" y="1671066"/>
            <a:ext cx="4206240" cy="31958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17BF36-6BBC-DCEF-B0B5-981C863BE94E}"/>
              </a:ext>
            </a:extLst>
          </p:cNvPr>
          <p:cNvSpPr/>
          <p:nvPr/>
        </p:nvSpPr>
        <p:spPr>
          <a:xfrm>
            <a:off x="502920" y="1734747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– WWWWWH 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C275E33-5899-A21D-0AC6-D504D27F1B1D}"/>
              </a:ext>
            </a:extLst>
          </p:cNvPr>
          <p:cNvSpPr/>
          <p:nvPr/>
        </p:nvSpPr>
        <p:spPr>
          <a:xfrm>
            <a:off x="678181" y="208156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/>
              <a:t>W</a:t>
            </a:r>
            <a:r>
              <a:rPr lang="en-US" sz="900" dirty="0"/>
              <a:t>ho will be using this the most?</a:t>
            </a:r>
          </a:p>
          <a:p>
            <a:r>
              <a:rPr lang="en-US" sz="900" b="1" dirty="0"/>
              <a:t>W</a:t>
            </a:r>
            <a:r>
              <a:rPr lang="en-US" sz="900" dirty="0"/>
              <a:t>hat feature is most critical for you?</a:t>
            </a:r>
          </a:p>
          <a:p>
            <a:r>
              <a:rPr lang="en-US" sz="900" b="1" dirty="0"/>
              <a:t>W</a:t>
            </a:r>
            <a:r>
              <a:rPr lang="en-US" sz="900" dirty="0"/>
              <a:t>here do you see this evolving?</a:t>
            </a:r>
          </a:p>
          <a:p>
            <a:r>
              <a:rPr lang="en-US" sz="900" b="1" dirty="0"/>
              <a:t>W</a:t>
            </a:r>
            <a:r>
              <a:rPr lang="en-US" sz="900" dirty="0"/>
              <a:t>hen would you like this implemented?</a:t>
            </a:r>
          </a:p>
          <a:p>
            <a:r>
              <a:rPr lang="en-US" sz="900" b="1" dirty="0"/>
              <a:t>W</a:t>
            </a:r>
            <a:r>
              <a:rPr lang="en-US" sz="900" dirty="0"/>
              <a:t>hy are you investing in this now?</a:t>
            </a:r>
          </a:p>
          <a:p>
            <a:r>
              <a:rPr lang="en-US" sz="900" b="1" dirty="0"/>
              <a:t>H</a:t>
            </a:r>
            <a:r>
              <a:rPr lang="en-US" sz="900" dirty="0"/>
              <a:t>ow do you see it benefiting your team?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9D5D177-4495-79C7-5E12-0553A64D58DE}"/>
              </a:ext>
            </a:extLst>
          </p:cNvPr>
          <p:cNvSpPr/>
          <p:nvPr/>
        </p:nvSpPr>
        <p:spPr>
          <a:xfrm>
            <a:off x="4674326" y="1696212"/>
            <a:ext cx="4206240" cy="31958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0ADBC99-6699-3C3F-2814-61FF5B3787EE}"/>
              </a:ext>
            </a:extLst>
          </p:cNvPr>
          <p:cNvSpPr/>
          <p:nvPr/>
        </p:nvSpPr>
        <p:spPr>
          <a:xfrm>
            <a:off x="4937760" y="16504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Questions 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5F59DF0-44F3-B5F2-772A-10B1F501731B}"/>
              </a:ext>
            </a:extLst>
          </p:cNvPr>
          <p:cNvSpPr/>
          <p:nvPr/>
        </p:nvSpPr>
        <p:spPr>
          <a:xfrm>
            <a:off x="5120640" y="1856232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/>
              <a:t>Alternative Option</a:t>
            </a:r>
            <a:endParaRPr lang="en-US" sz="900" dirty="0"/>
          </a:p>
          <a:p>
            <a:r>
              <a:rPr lang="en-US" sz="900" i="1" dirty="0"/>
              <a:t>"Would Tuesday or Thursday work better?“  - Offer two options </a:t>
            </a:r>
            <a:endParaRPr lang="en-US" sz="900" dirty="0"/>
          </a:p>
          <a:p>
            <a:r>
              <a:rPr lang="en-US" sz="900" b="1" dirty="0"/>
              <a:t>Porcupine</a:t>
            </a:r>
            <a:endParaRPr lang="en-US" sz="900" dirty="0"/>
          </a:p>
          <a:p>
            <a:r>
              <a:rPr lang="en-US" sz="900" i="1" dirty="0"/>
              <a:t>"Which color appeals to you most?“ – Answer with a Question </a:t>
            </a:r>
            <a:endParaRPr lang="en-US" sz="900" dirty="0"/>
          </a:p>
          <a:p>
            <a:r>
              <a:rPr lang="en-US" sz="900" b="1" dirty="0"/>
              <a:t>Involvement Question</a:t>
            </a:r>
            <a:endParaRPr lang="en-US" sz="900" dirty="0"/>
          </a:p>
          <a:p>
            <a:r>
              <a:rPr lang="en-US" sz="900" i="1" dirty="0"/>
              <a:t>"Where would you put this in your office?“ – Ownership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A1940F9-B930-65C9-4D66-F4B28DF20BD6}"/>
              </a:ext>
            </a:extLst>
          </p:cNvPr>
          <p:cNvSpPr/>
          <p:nvPr/>
        </p:nvSpPr>
        <p:spPr>
          <a:xfrm>
            <a:off x="502920" y="3840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A3C06414-1567-AA9B-3C97-0C035AE366CB}"/>
              </a:ext>
            </a:extLst>
          </p:cNvPr>
          <p:cNvSpPr/>
          <p:nvPr/>
        </p:nvSpPr>
        <p:spPr>
          <a:xfrm>
            <a:off x="5097780" y="3063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/>
              <a:t>“Great idea, isn’t it?“</a:t>
            </a:r>
          </a:p>
          <a:p>
            <a:r>
              <a:rPr lang="en-US" sz="900" i="1" dirty="0"/>
              <a:t>"Isn't it a great product?“</a:t>
            </a:r>
          </a:p>
          <a:p>
            <a:r>
              <a:rPr lang="en-US" sz="900" i="1" dirty="0"/>
              <a:t>"Because it's the best value, isn't it, you'd want to move forward?"</a:t>
            </a:r>
          </a:p>
          <a:p>
            <a:br>
              <a:rPr lang="en-US" sz="900" i="1" dirty="0"/>
            </a:br>
            <a:endParaRPr lang="en-US" sz="950" i="1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E3A0140-432A-8703-D6E4-A05B0AE951FA}"/>
              </a:ext>
            </a:extLst>
          </p:cNvPr>
          <p:cNvSpPr/>
          <p:nvPr/>
        </p:nvSpPr>
        <p:spPr>
          <a:xfrm>
            <a:off x="4972594" y="28575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downs 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53715A-8EDD-85A7-7239-22C93C391514}"/>
              </a:ext>
            </a:extLst>
          </p:cNvPr>
          <p:cNvSpPr txBox="1"/>
          <p:nvPr/>
        </p:nvSpPr>
        <p:spPr>
          <a:xfrm>
            <a:off x="1333825" y="1271015"/>
            <a:ext cx="2176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Discovery Questions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74A4A7-3DA6-8E99-4930-4813CD57690A}"/>
              </a:ext>
            </a:extLst>
          </p:cNvPr>
          <p:cNvSpPr txBox="1"/>
          <p:nvPr/>
        </p:nvSpPr>
        <p:spPr>
          <a:xfrm>
            <a:off x="5564013" y="1269140"/>
            <a:ext cx="199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Leading Questions </a:t>
            </a: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1491DE2-728F-F6E9-FFF0-789B8B562E1B}"/>
              </a:ext>
            </a:extLst>
          </p:cNvPr>
          <p:cNvSpPr/>
          <p:nvPr/>
        </p:nvSpPr>
        <p:spPr>
          <a:xfrm>
            <a:off x="5124994" y="3858768"/>
            <a:ext cx="3561806" cy="7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questions are almost always closed as they are engineered to give you an answer that will lead you to closing a sale. </a:t>
            </a:r>
            <a:endParaRPr lang="en-US" sz="11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DD5CDCB-3425-DC19-90A5-91C146A2D470}"/>
              </a:ext>
            </a:extLst>
          </p:cNvPr>
          <p:cNvSpPr/>
          <p:nvPr/>
        </p:nvSpPr>
        <p:spPr>
          <a:xfrm>
            <a:off x="590006" y="3909060"/>
            <a:ext cx="3780608" cy="745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Discovery phase, questions can be either open or closed as you are looking to better understand the prospects needs and/or wants.</a:t>
            </a:r>
            <a:endParaRPr lang="en-US" sz="11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08816D77-FBCE-83D3-E806-D4F36ED326B6}"/>
              </a:ext>
            </a:extLst>
          </p:cNvPr>
          <p:cNvSpPr/>
          <p:nvPr/>
        </p:nvSpPr>
        <p:spPr>
          <a:xfrm>
            <a:off x="1086339" y="3149509"/>
            <a:ext cx="2491414" cy="745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Can this person buy: budget, authority, timeline, need</a:t>
            </a:r>
          </a:p>
          <a:p>
            <a:r>
              <a:rPr lang="en-US" sz="1100" dirty="0"/>
              <a:t>Why do they want this? – emotion</a:t>
            </a:r>
          </a:p>
          <a:p>
            <a:r>
              <a:rPr lang="en-US" sz="1100" dirty="0"/>
              <a:t>What features matter most?</a:t>
            </a:r>
          </a:p>
          <a:p>
            <a:br>
              <a:rPr lang="en-US" sz="900" i="1" dirty="0"/>
            </a:br>
            <a:endParaRPr lang="en-US" sz="950" i="1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F110C45-AF7B-2C8C-71C4-D5C795B5A29A}"/>
              </a:ext>
            </a:extLst>
          </p:cNvPr>
          <p:cNvSpPr/>
          <p:nvPr/>
        </p:nvSpPr>
        <p:spPr>
          <a:xfrm>
            <a:off x="2620054" y="11594"/>
            <a:ext cx="371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say it, it's true. If you say it, they doubt you.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7297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85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People to Sell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89756" y="1572029"/>
            <a:ext cx="8248851" cy="2660253"/>
          </a:xfrm>
          <a:prstGeom prst="roundRect">
            <a:avLst>
              <a:gd name="adj" fmla="val 6000"/>
            </a:avLst>
          </a:prstGeom>
          <a:solidFill>
            <a:srgbClr val="C9973A">
              <a:alpha val="8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07800" y="1458227"/>
            <a:ext cx="3085180" cy="1805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187871" y="29249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Belly to Belly. Every Day.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211546" y="4057628"/>
            <a:ext cx="4999900" cy="1009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always make one more call after a rejection, never end on a negative note.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EAEA4A-56A3-C461-7CDA-CF1E1339FC0C}"/>
              </a:ext>
            </a:extLst>
          </p:cNvPr>
          <p:cNvSpPr txBox="1"/>
          <p:nvPr/>
        </p:nvSpPr>
        <p:spPr>
          <a:xfrm>
            <a:off x="1752363" y="3634185"/>
            <a:ext cx="596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Never a </a:t>
            </a:r>
            <a:r>
              <a:rPr lang="en-US" b="1" i="1" dirty="0">
                <a:solidFill>
                  <a:schemeClr val="bg1"/>
                </a:solidFill>
              </a:rPr>
              <a:t>shortage</a:t>
            </a:r>
            <a:r>
              <a:rPr lang="en-US" i="1" dirty="0">
                <a:solidFill>
                  <a:schemeClr val="bg1"/>
                </a:solidFill>
              </a:rPr>
              <a:t> of work in sales. There is always more to do.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00F268-7EFD-BD0E-406A-FA718C78D7CC}"/>
              </a:ext>
            </a:extLst>
          </p:cNvPr>
          <p:cNvSpPr/>
          <p:nvPr/>
        </p:nvSpPr>
        <p:spPr>
          <a:xfrm>
            <a:off x="4519769" y="1687740"/>
            <a:ext cx="2380837" cy="19193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DE915173-136A-7A5B-0006-6ED8BB099DEB}"/>
              </a:ext>
            </a:extLst>
          </p:cNvPr>
          <p:cNvSpPr/>
          <p:nvPr/>
        </p:nvSpPr>
        <p:spPr>
          <a:xfrm>
            <a:off x="4448286" y="1880075"/>
            <a:ext cx="1110869" cy="1534720"/>
          </a:xfrm>
          <a:prstGeom prst="arc">
            <a:avLst>
              <a:gd name="adj1" fmla="val 16200000"/>
              <a:gd name="adj2" fmla="val 543102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9468966-8DC6-EB35-A9E8-362ECEF07830}"/>
              </a:ext>
            </a:extLst>
          </p:cNvPr>
          <p:cNvSpPr/>
          <p:nvPr/>
        </p:nvSpPr>
        <p:spPr>
          <a:xfrm flipH="1">
            <a:off x="5759350" y="1880075"/>
            <a:ext cx="1295070" cy="1534720"/>
          </a:xfrm>
          <a:prstGeom prst="arc">
            <a:avLst>
              <a:gd name="adj1" fmla="val 16161953"/>
              <a:gd name="adj2" fmla="val 549419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E1198F-E38A-7937-2283-CEF13260BAFF}"/>
              </a:ext>
            </a:extLst>
          </p:cNvPr>
          <p:cNvSpPr/>
          <p:nvPr/>
        </p:nvSpPr>
        <p:spPr>
          <a:xfrm>
            <a:off x="5293895" y="2856438"/>
            <a:ext cx="45719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288AB1-E805-B00D-479F-D80CF0AE6C04}"/>
              </a:ext>
            </a:extLst>
          </p:cNvPr>
          <p:cNvSpPr/>
          <p:nvPr/>
        </p:nvSpPr>
        <p:spPr>
          <a:xfrm>
            <a:off x="6011569" y="2879297"/>
            <a:ext cx="45719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0EAF9-5478-B64B-D642-DF0F91B0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281A907-96EC-FA1D-9CE6-2191CB59DFC0}"/>
              </a:ext>
            </a:extLst>
          </p:cNvPr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A1EE17-038A-2A98-E090-27000CAE320B}"/>
              </a:ext>
            </a:extLst>
          </p:cNvPr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7333C2-64B2-A04A-8FB2-02833E1B5E59}"/>
              </a:ext>
            </a:extLst>
          </p:cNvPr>
          <p:cNvSpPr/>
          <p:nvPr/>
        </p:nvSpPr>
        <p:spPr>
          <a:xfrm>
            <a:off x="45720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 ratios helps keep you on track and positive 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A0284A-CAFD-CB2F-2C64-4F85B7B0657C}"/>
              </a:ext>
            </a:extLst>
          </p:cNvPr>
          <p:cNvSpPr/>
          <p:nvPr/>
        </p:nvSpPr>
        <p:spPr>
          <a:xfrm>
            <a:off x="320040" y="187452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6E26BE-A067-33F2-A2A4-8F3BF35C1A2E}"/>
              </a:ext>
            </a:extLst>
          </p:cNvPr>
          <p:cNvSpPr/>
          <p:nvPr/>
        </p:nvSpPr>
        <p:spPr>
          <a:xfrm>
            <a:off x="411480" y="1947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C9A852-5F25-BDB8-038C-4BFD7F66AFDB}"/>
              </a:ext>
            </a:extLst>
          </p:cNvPr>
          <p:cNvSpPr/>
          <p:nvPr/>
        </p:nvSpPr>
        <p:spPr>
          <a:xfrm>
            <a:off x="886968" y="1929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Ratio 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2C2BC8-F323-5B16-99DC-B4E68C74B79E}"/>
              </a:ext>
            </a:extLst>
          </p:cNvPr>
          <p:cNvSpPr/>
          <p:nvPr/>
        </p:nvSpPr>
        <p:spPr>
          <a:xfrm>
            <a:off x="886968" y="21488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Rejections : 1 Sale of $500, each rejection you make $50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CAB0C5-DA4E-0C38-7CED-1ECE9E5B36FA}"/>
              </a:ext>
            </a:extLst>
          </p:cNvPr>
          <p:cNvSpPr/>
          <p:nvPr/>
        </p:nvSpPr>
        <p:spPr>
          <a:xfrm>
            <a:off x="320040" y="2487168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71FC94-4F49-152B-D2AD-59881F7C4810}"/>
              </a:ext>
            </a:extLst>
          </p:cNvPr>
          <p:cNvSpPr/>
          <p:nvPr/>
        </p:nvSpPr>
        <p:spPr>
          <a:xfrm>
            <a:off x="41148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2E9C994-103D-0FEA-B1DB-14444D8BF41D}"/>
              </a:ext>
            </a:extLst>
          </p:cNvPr>
          <p:cNvSpPr/>
          <p:nvPr/>
        </p:nvSpPr>
        <p:spPr>
          <a:xfrm>
            <a:off x="886968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Ratio 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A9DD58-F607-0A84-1BB9-E59D9B234F31}"/>
              </a:ext>
            </a:extLst>
          </p:cNvPr>
          <p:cNvSpPr/>
          <p:nvPr/>
        </p:nvSpPr>
        <p:spPr>
          <a:xfrm>
            <a:off x="886968" y="27614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referrals per sale? 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AC0055B-01A4-5B21-D8BF-009BF0C6149E}"/>
              </a:ext>
            </a:extLst>
          </p:cNvPr>
          <p:cNvSpPr/>
          <p:nvPr/>
        </p:nvSpPr>
        <p:spPr>
          <a:xfrm>
            <a:off x="320040" y="3099816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636FE3-6501-7691-AF19-D33894840B3E}"/>
              </a:ext>
            </a:extLst>
          </p:cNvPr>
          <p:cNvSpPr/>
          <p:nvPr/>
        </p:nvSpPr>
        <p:spPr>
          <a:xfrm>
            <a:off x="411480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F9E484-B830-F0DD-7F6F-58EC5CFCF564}"/>
              </a:ext>
            </a:extLst>
          </p:cNvPr>
          <p:cNvSpPr/>
          <p:nvPr/>
        </p:nvSpPr>
        <p:spPr>
          <a:xfrm>
            <a:off x="886968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Dollars Ratio 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6BE767-B74B-B28A-CCB8-37358D0B9EF9}"/>
              </a:ext>
            </a:extLst>
          </p:cNvPr>
          <p:cNvSpPr/>
          <p:nvPr/>
        </p:nvSpPr>
        <p:spPr>
          <a:xfrm>
            <a:off x="886968" y="337413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twice a year 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1E8AB70-3C48-9474-A99D-81BFA4BB6354}"/>
              </a:ext>
            </a:extLst>
          </p:cNvPr>
          <p:cNvSpPr/>
          <p:nvPr/>
        </p:nvSpPr>
        <p:spPr>
          <a:xfrm>
            <a:off x="320040" y="3712464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495D72-C3C5-BCFB-64C5-EA78A3DB37AF}"/>
              </a:ext>
            </a:extLst>
          </p:cNvPr>
          <p:cNvSpPr/>
          <p:nvPr/>
        </p:nvSpPr>
        <p:spPr>
          <a:xfrm>
            <a:off x="411480" y="3785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7986755-DD77-1F82-A79E-7CDD6F9E77D6}"/>
              </a:ext>
            </a:extLst>
          </p:cNvPr>
          <p:cNvSpPr/>
          <p:nvPr/>
        </p:nvSpPr>
        <p:spPr>
          <a:xfrm>
            <a:off x="886968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Ratios 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DE684BA-78E6-2548-3BA7-994459B07315}"/>
              </a:ext>
            </a:extLst>
          </p:cNvPr>
          <p:cNvSpPr/>
          <p:nvPr/>
        </p:nvSpPr>
        <p:spPr>
          <a:xfrm>
            <a:off x="886968" y="39867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calls made per Hour of Prospecting + Prospecting Calls to Appointments Set 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0317E6-C858-F07C-E129-8AC2DD848BC4}"/>
              </a:ext>
            </a:extLst>
          </p:cNvPr>
          <p:cNvSpPr/>
          <p:nvPr/>
        </p:nvSpPr>
        <p:spPr>
          <a:xfrm>
            <a:off x="320040" y="4325112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AB5C724-2143-AFDA-E693-53CAD1ED46BE}"/>
              </a:ext>
            </a:extLst>
          </p:cNvPr>
          <p:cNvSpPr/>
          <p:nvPr/>
        </p:nvSpPr>
        <p:spPr>
          <a:xfrm>
            <a:off x="411480" y="43982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7C81C8-A0C5-C1FB-FA21-7D99498DE85F}"/>
              </a:ext>
            </a:extLst>
          </p:cNvPr>
          <p:cNvSpPr/>
          <p:nvPr/>
        </p:nvSpPr>
        <p:spPr>
          <a:xfrm>
            <a:off x="886968" y="4379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Ratios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3424B9D-F2BC-D3F2-CAFE-32B5F75E2A7B}"/>
              </a:ext>
            </a:extLst>
          </p:cNvPr>
          <p:cNvSpPr/>
          <p:nvPr/>
        </p:nvSpPr>
        <p:spPr>
          <a:xfrm>
            <a:off x="886968" y="45994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to determine the time passed between Prospecting and making a Sale 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2845E3E-41BB-023F-9C16-04649ECF9A80}"/>
              </a:ext>
            </a:extLst>
          </p:cNvPr>
          <p:cNvSpPr/>
          <p:nvPr/>
        </p:nvSpPr>
        <p:spPr>
          <a:xfrm>
            <a:off x="320040" y="4937760"/>
            <a:ext cx="8503920" cy="109728"/>
          </a:xfrm>
          <a:prstGeom prst="roundRect">
            <a:avLst>
              <a:gd name="adj" fmla="val 41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7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Non-Referral Prospecting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581912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609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Itch 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has a natural replacement cycle. Know when your clients are ready to itch again and be there first.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444752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92424" y="1581912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609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Adoption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92424" y="19933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clients of salespeople who left your company. They have no rep — adopt them and serve them.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444752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45936" y="1581912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5936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48272" y="1609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Newspapers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Social Media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5936" y="19933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Birth, marriage, promotion, and business announcements are prospecting gold. Congratulate and connect.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" y="3337560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Claim-Staking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neighborhood or niche and become the recognized expert. Consistency in one area beats scattered effort.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2004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92424" y="3337560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92424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Meets / Leads Clubs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92424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groups that trade non-competitive leads. One good relationship in a club can fuel months of pipeline.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32004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45936" y="3337560"/>
            <a:ext cx="347472" cy="34747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45936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48272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Involvement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Volunteer, sponsor, participate. You become a known trusted face — the exact person people want to buy from.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85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Prospecting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easiest close is a warm introduction.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4A6B8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referral/sale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6888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3D5A80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688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referrals/sale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6888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1772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D4D7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referrals/sale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1772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254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6656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referrals/sale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6656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Referral System — 6 Steps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3566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faces — bring small groups to mind (their bowling team, troop, etc.)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8130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names and correct spelling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05993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qualifying questions — why did that person come to mind?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30682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contact info or look it up together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5537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call — give you permission to use their name if not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highest-quality service and follow through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Qualifying Your Leads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make money trying to sell the wrong people.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Pre-Qualifying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768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the true decision-maker before investing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862072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 committee sales — find the influential 'gnome' behind the title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529584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 family sales — determine who holds the real veto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197096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Never try to close people who can't say yes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2768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Six-step sequence: who, what, when, why, how, how much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62072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944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 the Triplicate of Choice to focus options (A, B, or C?)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529584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Avoid the Uh-Price trap — qualify budget early without triggering fear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4197096"/>
            <a:ext cx="41148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279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Lots of appointments + few sales = qualification problem, not closing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863840" y="274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Triplicate of Choice for Money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216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single strategy for eliminating price as an objection.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45767" y="1956697"/>
            <a:ext cx="3606077" cy="1806399"/>
          </a:xfrm>
          <a:prstGeom prst="roundRect">
            <a:avLst>
              <a:gd name="adj" fmla="val 7692"/>
            </a:avLst>
          </a:prstGeom>
          <a:solidFill>
            <a:srgbClr val="3D5A80">
              <a:alpha val="60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63908" y="2162189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9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720662" y="1511714"/>
            <a:ext cx="3057578" cy="2658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interested in acquiring this are prepared to invest [HIGH]. A fortunate few can invest between [HIGHER] and [HIGHEST]. And then there are those on a limited or fixed budget who — with the high cost of everything today — can't go higher than [YOUR PRICE]. May I ask, which of these categories does your company fit into most comfortably?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41676" y="3261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C9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95212" y="343269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Tom Hopkins, Ch. 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4070" y="1566809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Formula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970192"/>
            <a:ext cx="4114800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67608" y="20662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5805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20% ABOVE your actual investment (the anchor)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573385"/>
            <a:ext cx="4114800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7608" y="2671641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" y="264065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 range of 50-100% above your price (makes the anchor feel reasonable)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17711"/>
            <a:ext cx="4114800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7608" y="32183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5805" y="316286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ACTUAL price last — as the floor / budget option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617208"/>
            <a:ext cx="4114800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67608" y="3702927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4150" y="366635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"Which category does your company fit into most comfortably?"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164752"/>
            <a:ext cx="4114800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67608" y="426076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5805" y="42241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they pick, reply: "Great news — the model that meets all your needs is only [your price]" — which is always at or below what they stated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4892040"/>
            <a:ext cx="8412480" cy="164592"/>
          </a:xfrm>
          <a:prstGeom prst="roundRect">
            <a:avLst>
              <a:gd name="adj" fmla="val 33333"/>
            </a:avLst>
          </a:prstGeom>
          <a:solidFill>
            <a:srgbClr val="C9973A">
              <a:alpha val="2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2920" y="4919472"/>
            <a:ext cx="8138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win no matter which category they pick — your price always lands at or below what they said they could spend.</a:t>
            </a:r>
            <a:endParaRPr lang="en-US" sz="95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9032FD3-2D50-C3E6-9745-C8B7F96F5F2A}"/>
              </a:ext>
            </a:extLst>
          </p:cNvPr>
          <p:cNvSpPr/>
          <p:nvPr/>
        </p:nvSpPr>
        <p:spPr>
          <a:xfrm rot="16200000">
            <a:off x="5479664" y="3903977"/>
            <a:ext cx="502665" cy="38642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C4A463A2-1BEB-D0B2-2F59-76A33989A41E}"/>
              </a:ext>
            </a:extLst>
          </p:cNvPr>
          <p:cNvSpPr/>
          <p:nvPr/>
        </p:nvSpPr>
        <p:spPr>
          <a:xfrm rot="16200000">
            <a:off x="8177281" y="3903977"/>
            <a:ext cx="502665" cy="38642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B1EF40-D34E-897C-8C4C-52F9C2604859}"/>
              </a:ext>
            </a:extLst>
          </p:cNvPr>
          <p:cNvSpPr txBox="1"/>
          <p:nvPr/>
        </p:nvSpPr>
        <p:spPr>
          <a:xfrm>
            <a:off x="5793917" y="3992016"/>
            <a:ext cx="255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START USING THIS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60C8D-08D0-1BA4-47B3-B48094AF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0C69F9-3479-2C72-7837-C7A26EBACCF0}"/>
              </a:ext>
            </a:extLst>
          </p:cNvPr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Overcoming Objections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5EB4EF-EFBC-9189-FDC2-1EB2BA1DCB36}"/>
              </a:ext>
            </a:extLst>
          </p:cNvPr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8956BB-935A-0395-EF66-4240D6521DA1}"/>
              </a:ext>
            </a:extLst>
          </p:cNvPr>
          <p:cNvSpPr/>
          <p:nvPr/>
        </p:nvSpPr>
        <p:spPr>
          <a:xfrm>
            <a:off x="249430" y="1904847"/>
            <a:ext cx="4093087" cy="2958737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0EEE2C-DE68-4A54-DEAA-8F42D84BEB56}"/>
              </a:ext>
            </a:extLst>
          </p:cNvPr>
          <p:cNvSpPr/>
          <p:nvPr/>
        </p:nvSpPr>
        <p:spPr>
          <a:xfrm>
            <a:off x="886968" y="1929383"/>
            <a:ext cx="3208414" cy="278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-    Learn to love them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Objections are a part of every sale 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Rungs on a ladder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Minor vs Major 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Reveal where their interest lie </a:t>
            </a:r>
          </a:p>
          <a:p>
            <a:pPr marL="171450" indent="-171450">
              <a:buFontTx/>
              <a:buChar char="-"/>
            </a:pPr>
            <a:r>
              <a:rPr lang="en-US" sz="1100" b="1" dirty="0"/>
              <a:t>Don’t</a:t>
            </a:r>
            <a:r>
              <a:rPr lang="en-US" sz="1100" dirty="0"/>
              <a:t> argue </a:t>
            </a:r>
          </a:p>
          <a:p>
            <a:pPr marL="171450" indent="-171450">
              <a:buFontTx/>
              <a:buChar char="-"/>
            </a:pPr>
            <a:r>
              <a:rPr lang="en-US" sz="1100" b="1" dirty="0"/>
              <a:t>Don’t</a:t>
            </a:r>
            <a:r>
              <a:rPr lang="en-US" sz="1100" dirty="0"/>
              <a:t> attack them when you overcome the objection </a:t>
            </a:r>
          </a:p>
          <a:p>
            <a:pPr marL="171450" indent="-171450">
              <a:buFontTx/>
              <a:buChar char="-"/>
            </a:pPr>
            <a:r>
              <a:rPr lang="en-US" sz="1100" b="1" dirty="0"/>
              <a:t>Do</a:t>
            </a:r>
            <a:r>
              <a:rPr lang="en-US" sz="1100" dirty="0"/>
              <a:t> lead them to the answer of their own objection </a:t>
            </a:r>
          </a:p>
          <a:p>
            <a:endParaRPr lang="en-US" sz="1100" dirty="0"/>
          </a:p>
          <a:p>
            <a:pPr marL="171450" indent="-171450">
              <a:buFontTx/>
              <a:buChar char="-"/>
            </a:pPr>
            <a:endParaRPr lang="en-US" sz="1100" dirty="0"/>
          </a:p>
          <a:p>
            <a:pPr marL="171450" indent="-171450">
              <a:buFontTx/>
              <a:buChar char="-"/>
            </a:pP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C42DF7B-232B-1A53-E3D9-BEB621D0B461}"/>
              </a:ext>
            </a:extLst>
          </p:cNvPr>
          <p:cNvSpPr/>
          <p:nvPr/>
        </p:nvSpPr>
        <p:spPr>
          <a:xfrm>
            <a:off x="4504567" y="1856232"/>
            <a:ext cx="4446138" cy="295873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D32C0BC-5733-219E-BA53-F0307CDE39D9}"/>
              </a:ext>
            </a:extLst>
          </p:cNvPr>
          <p:cNvSpPr/>
          <p:nvPr/>
        </p:nvSpPr>
        <p:spPr>
          <a:xfrm>
            <a:off x="320040" y="4937760"/>
            <a:ext cx="8503920" cy="109728"/>
          </a:xfrm>
          <a:prstGeom prst="roundRect">
            <a:avLst>
              <a:gd name="adj" fmla="val 41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B643C2-29F8-DF00-AA46-73FB7EB0436C}"/>
              </a:ext>
            </a:extLst>
          </p:cNvPr>
          <p:cNvSpPr txBox="1"/>
          <p:nvPr/>
        </p:nvSpPr>
        <p:spPr>
          <a:xfrm>
            <a:off x="1664013" y="1498655"/>
            <a:ext cx="12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B1B724-9542-8651-EF90-06B88AC1CE15}"/>
              </a:ext>
            </a:extLst>
          </p:cNvPr>
          <p:cNvSpPr txBox="1"/>
          <p:nvPr/>
        </p:nvSpPr>
        <p:spPr>
          <a:xfrm>
            <a:off x="5260448" y="1422892"/>
            <a:ext cx="258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Handle them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70CE34-5B01-12C1-D43A-EFBC6BAA6384}"/>
              </a:ext>
            </a:extLst>
          </p:cNvPr>
          <p:cNvSpPr txBox="1"/>
          <p:nvPr/>
        </p:nvSpPr>
        <p:spPr>
          <a:xfrm>
            <a:off x="4801485" y="2005468"/>
            <a:ext cx="33163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6-Step Process</a:t>
            </a:r>
          </a:p>
          <a:p>
            <a:r>
              <a:rPr lang="en-US" sz="1100" dirty="0"/>
              <a:t>Hear them out — never interrupt, let them finish completely</a:t>
            </a:r>
          </a:p>
          <a:p>
            <a:r>
              <a:rPr lang="en-US" sz="1100" dirty="0"/>
              <a:t>Cushion it — acknowledge without agreeing ("That's a fair point…")</a:t>
            </a:r>
          </a:p>
          <a:p>
            <a:r>
              <a:rPr lang="en-US" sz="1100" dirty="0"/>
              <a:t>Question it — isolate and clarify ("Is that your only concern?")</a:t>
            </a:r>
          </a:p>
          <a:p>
            <a:r>
              <a:rPr lang="en-US" sz="1100" dirty="0"/>
              <a:t>Answer it — give a concise, confident response</a:t>
            </a:r>
          </a:p>
          <a:p>
            <a:r>
              <a:rPr lang="en-US" sz="1100" dirty="0"/>
              <a:t>Confirm the answer — "Does that make sense?" / "Does that address your concern?"</a:t>
            </a:r>
          </a:p>
          <a:p>
            <a:r>
              <a:rPr lang="en-US" sz="1100" dirty="0"/>
              <a:t>Change direction — redirect toward the close immediately after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D5A10-4EE5-1BA2-F92D-F3982465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36" y="206780"/>
            <a:ext cx="2472457" cy="8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1C148-E005-E302-7729-53F319DC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155969D-C24E-C29E-9407-827EBAD5622C}"/>
              </a:ext>
            </a:extLst>
          </p:cNvPr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Rejections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FE5EFE-D805-8DEF-ACD8-6ACA36164BBB}"/>
              </a:ext>
            </a:extLst>
          </p:cNvPr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797D3B-5605-B164-F6BC-0E395FA047C8}"/>
              </a:ext>
            </a:extLst>
          </p:cNvPr>
          <p:cNvSpPr/>
          <p:nvPr/>
        </p:nvSpPr>
        <p:spPr>
          <a:xfrm>
            <a:off x="205462" y="1883664"/>
            <a:ext cx="4181022" cy="2939995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2000" b="1" dirty="0"/>
              <a:t> 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6283F83-3451-4D66-D87A-CEB7155D4282}"/>
              </a:ext>
            </a:extLst>
          </p:cNvPr>
          <p:cNvSpPr/>
          <p:nvPr/>
        </p:nvSpPr>
        <p:spPr>
          <a:xfrm>
            <a:off x="4504567" y="1886106"/>
            <a:ext cx="4446138" cy="295873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6FC5FAA-69BF-F197-AA52-BA609D30EE77}"/>
              </a:ext>
            </a:extLst>
          </p:cNvPr>
          <p:cNvSpPr/>
          <p:nvPr/>
        </p:nvSpPr>
        <p:spPr>
          <a:xfrm>
            <a:off x="320040" y="4937760"/>
            <a:ext cx="8503920" cy="109728"/>
          </a:xfrm>
          <a:prstGeom prst="roundRect">
            <a:avLst>
              <a:gd name="adj" fmla="val 41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2A6EF-7E8B-295A-61A8-C3F3E02D32B8}"/>
              </a:ext>
            </a:extLst>
          </p:cNvPr>
          <p:cNvSpPr txBox="1"/>
          <p:nvPr/>
        </p:nvSpPr>
        <p:spPr>
          <a:xfrm>
            <a:off x="1664013" y="1498655"/>
            <a:ext cx="12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Rejections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3E929-870C-157D-66C1-42E4FBDE9792}"/>
              </a:ext>
            </a:extLst>
          </p:cNvPr>
          <p:cNvSpPr txBox="1"/>
          <p:nvPr/>
        </p:nvSpPr>
        <p:spPr>
          <a:xfrm>
            <a:off x="5475601" y="1498655"/>
            <a:ext cx="258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Handle them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9938A-2F18-313A-0461-E4413580EEEE}"/>
              </a:ext>
            </a:extLst>
          </p:cNvPr>
          <p:cNvSpPr txBox="1"/>
          <p:nvPr/>
        </p:nvSpPr>
        <p:spPr>
          <a:xfrm>
            <a:off x="5075911" y="2479647"/>
            <a:ext cx="3722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Should be handled in timely manner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Can be used to create future business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Handle with grace and respect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0AC69-A161-3626-6A33-22C7D7B348A5}"/>
              </a:ext>
            </a:extLst>
          </p:cNvPr>
          <p:cNvSpPr txBox="1"/>
          <p:nvPr/>
        </p:nvSpPr>
        <p:spPr>
          <a:xfrm>
            <a:off x="776532" y="2515042"/>
            <a:ext cx="2821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Part of Sales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Know your Ratio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Conditions: Valid reason to not close on deal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1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to Love 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Attitudes Toward Rejection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947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929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Experience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what you did wrong — ask what lesson you just paid for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2542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Correction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7614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is negative feedback that steers you back toward the target. Like a missile — adjust and keep going.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99816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72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3154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Sense of Humor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337413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disaster you can't laugh at today is the story you'll kill with in three weeks. Laugh sooner.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12464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785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Opportunity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39867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 is a free practice session. Perfect your technique — perfection compounds into sales.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3982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4379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Game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45994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is a percentage game. The more people you see, the more yeses emerge. Champions always make one more call after a rejection.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109728"/>
          </a:xfrm>
          <a:prstGeom prst="roundRect">
            <a:avLst>
              <a:gd name="adj" fmla="val 41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0"/>
            <a:ext cx="13716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85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Skills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C9973A">
              <a:alpha val="85000"/>
            </a:srgbClr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Most Important Words in Closing: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can show you... would you be willing to move forward today?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3D5A8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Closes Early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6243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minor agreements throughout the presentation to gauge buy-in: That makes sense, does it not? Let them say yes many times before the big ask.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999232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3D5A8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Empathy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what they feel. The close is not a conquest — it's guiding them to a decision that genuinely helps them.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666744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3D5A8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Through Their Eyes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9593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owning this look like for them? Paint the picture from their perspective, not yours.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334256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3D5A8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Where to Close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46268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when emotional momentum is highest. Anywhere they're comfortable — their home, your showroom, a coffee meeting.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 Thank-You Notes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receive almost none. One thank-you note makes you unforgettable.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1031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client's secretary reads your note, she walks in and says: "We got a really nice thank-you note. Do you remember this person?" And the sale is half-made again.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Thank-You Notes When: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3200400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33101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contact  </a:t>
            </a: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conversation where your product or service comes up, however briefly.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200400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33101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visit  </a:t>
            </a: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Recontact — even if they didn't buy. Especially if they didn't buy.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3858768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39684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referrals  </a:t>
            </a: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 person who gave you the lead — and then give them the outcome.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858768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39684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sale  </a:t>
            </a: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their decision. Buyer's remorse is real; a warm note dissolves it.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517136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0DD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encounters  </a:t>
            </a: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someone at a car wash? Hand-write Thank You on your business card and follow up.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26F0E-2B7D-F203-843C-1F66E940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36003B9-320E-EA35-FD54-4FE330ECA964}"/>
              </a:ext>
            </a:extLst>
          </p:cNvPr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A0A22D-375B-618C-1D29-C93B9744E037}"/>
              </a:ext>
            </a:extLst>
          </p:cNvPr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A9531A-0BB5-EA99-F487-5BE843725E95}"/>
              </a:ext>
            </a:extLst>
          </p:cNvPr>
          <p:cNvSpPr/>
          <p:nvPr/>
        </p:nvSpPr>
        <p:spPr>
          <a:xfrm>
            <a:off x="457200" y="1389888"/>
            <a:ext cx="843252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more than you listen 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rejection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to unqualified prospects 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allocation of time 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after objections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Neglecting to follow up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in “sales speak”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instead of connecting 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control or interest </a:t>
            </a:r>
          </a:p>
          <a:p>
            <a:pPr marL="342900" indent="-342900">
              <a:buAutoNum type="arabicPeriod"/>
            </a:pP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A540BD8-7F8A-C70D-46C7-6B9A31987613}"/>
              </a:ext>
            </a:extLst>
          </p:cNvPr>
          <p:cNvSpPr/>
          <p:nvPr/>
        </p:nvSpPr>
        <p:spPr>
          <a:xfrm>
            <a:off x="320040" y="4937760"/>
            <a:ext cx="8503920" cy="109728"/>
          </a:xfrm>
          <a:prstGeom prst="roundRect">
            <a:avLst>
              <a:gd name="adj" fmla="val 41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86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Creed of the Champion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09728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see failure as failure, but only as a learning experience.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97280" y="27706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see failure as failure, but only as the feedback I need to change course.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97280" y="32095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see failure as failure, but only as the chance to develop my sense of humor.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97280" y="364845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see failure as failure, but only as the opportunity to practice and perfect.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40873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never see failure as failure, but only as the game I must play to win.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97280" y="4572000"/>
            <a:ext cx="694944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7280" y="4709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Tom Hopkins, How to Master the Art of Selling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812b97-1b5a-4e3e-8845-1c5f9290dc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8A04D66BE8684FBBEC85605884BC7D" ma:contentTypeVersion="2" ma:contentTypeDescription="Create a new document." ma:contentTypeScope="" ma:versionID="5d967d031004b6dff6c7363eb37c2e17">
  <xsd:schema xmlns:xsd="http://www.w3.org/2001/XMLSchema" xmlns:xs="http://www.w3.org/2001/XMLSchema" xmlns:p="http://schemas.microsoft.com/office/2006/metadata/properties" xmlns:ns3="77812b97-1b5a-4e3e-8845-1c5f9290dcdf" targetNamespace="http://schemas.microsoft.com/office/2006/metadata/properties" ma:root="true" ma:fieldsID="98f7fc61514f792c17a332325e42af63" ns3:_="">
    <xsd:import namespace="77812b97-1b5a-4e3e-8845-1c5f9290dcd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12b97-1b5a-4e3e-8845-1c5f9290dc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A4DBD-D080-421B-AA48-D6E9551D7926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7812b97-1b5a-4e3e-8845-1c5f9290dcdf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E52DEFE-B571-4F9E-9931-D647657719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812b97-1b5a-4e3e-8845-1c5f9290d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F88424-98C1-43DB-B5CF-298BD4A013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2072</Words>
  <Application>Microsoft Office PowerPoint</Application>
  <PresentationFormat>On-screen Show (16:9)</PresentationFormat>
  <Paragraphs>252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Master the Art of Selling</dc:title>
  <dc:subject>PptxGenJS Presentation</dc:subject>
  <dc:creator>PptxGenJS</dc:creator>
  <cp:lastModifiedBy>Dylan Haines</cp:lastModifiedBy>
  <cp:revision>5</cp:revision>
  <dcterms:created xsi:type="dcterms:W3CDTF">2026-06-22T14:23:08Z</dcterms:created>
  <dcterms:modified xsi:type="dcterms:W3CDTF">2026-06-24T17:52:49Z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0x010100ED8A04D66BE8684FBBEC85605884BC7D</vt:lpwstr>
  </property>
</Properties>
</file>
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26"/>
  </p:notesMasterIdLst>
  <p:sldIdLst>
    <p:sldId id="256" r:id="rId5"/>
    <p:sldId id="273" r:id="rId6"/>
    <p:sldId id="272" r:id="rId7"/>
    <p:sldId id="275" r:id="rId8"/>
    <p:sldId id="257" r:id="rId9"/>
    <p:sldId id="258" r:id="rId10"/>
    <p:sldId id="259" r:id="rId11"/>
    <p:sldId id="260" r:id="rId12"/>
    <p:sldId id="271" r:id="rId13"/>
    <p:sldId id="262" r:id="rId14"/>
    <p:sldId id="270" r:id="rId15"/>
    <p:sldId id="263" r:id="rId16"/>
    <p:sldId id="264" r:id="rId17"/>
    <p:sldId id="265" r:id="rId18"/>
    <p:sldId id="269" r:id="rId19"/>
    <p:sldId id="261" r:id="rId20"/>
    <p:sldId id="274" r:id="rId21"/>
    <p:sldId id="276" r:id="rId22"/>
    <p:sldId id="266" r:id="rId23"/>
    <p:sldId id="267" r:id="rId24"/>
    <p:sldId id="268" r:id="rId25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204" d="100"/>
          <a:sy n="204" d="100"/>
        </p:scale>
        <p:origin x="1362" y="1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notesMaster" Target="notesMasters/notesMaster1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viewProps" Target="view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0512364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6250E0-21C7-794B-A708-F8FB08E05C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4BFAB9A-CAE2-C464-26B1-A3834AC9E05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28E1FA6-1A12-4A79-4A60-D374D9D3654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1974A74-2336-C630-BFA2-D785021D3E9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197450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CD3258-CAB6-BD2A-CDDA-2AE94D1396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558956B-BBB2-CBDB-433B-147B7A10CB4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AE473F9-A6D6-28A7-4A47-6C42E18CEFA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64A2442-D038-2663-E9BB-52C94725A8E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62493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D324B6-43D6-8EBC-53B0-2DFB4F5B82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FD580A6-B314-3F61-E654-5123F90448A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859D11C-9A25-81C4-A0D2-659FE14E6DF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1CEE7C4-7CEA-67BF-8B0B-2010D7BA231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584683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EC0D94-E29B-F2C4-1FB3-44A09BD9A9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EC9F64E-C78F-1A37-AA15-CA43BBACF61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6DA1487-25F3-D1CC-BA1F-BFDDB5253E5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3E96DBF-E1DD-758E-97AB-39867BCFB6C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561825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105ED2-F6C3-3B57-F64D-D81CC43509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9AB0D27-06F0-3FD7-E7A5-8413ED20D16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AD6606F-0EE8-4C24-2CBE-F22D4079875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0F5FFF4-C77A-EC3C-1029-575E25E9C70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584335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97A831-584E-C1E5-E6CE-71A51FF3B4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965E58E-ED2B-3CF1-9298-9FAE7E2BCF2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EA6BE76-7132-2FF6-F9A9-8B53C5822F3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F3F48D5-6D26-7FDC-E1DF-E8586196070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701694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29D488-58EF-B54F-90E8-CD3372B5F8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B0E5A5C-5543-4D08-47A0-714EE0D0A7C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B9B063A-31E6-6975-7FDD-E1FB7DD79BE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8D4CA3A-01D5-4C65-0296-9BCF62DE809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3716920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B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0" y="0"/>
            <a:ext cx="2743200" cy="5143500"/>
          </a:xfrm>
          <a:prstGeom prst="rect">
            <a:avLst/>
          </a:prstGeom>
          <a:solidFill>
            <a:srgbClr val="C9973A">
              <a:alpha val="12000"/>
            </a:srgbClr>
          </a:solidFill>
          <a:ln w="12700">
            <a:solidFill>
              <a:srgbClr val="C997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55280" y="274320"/>
            <a:ext cx="640080" cy="64008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48640" y="91440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600" dirty="0">
                <a:solidFill>
                  <a:srgbClr val="C99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TO MASTER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548640" y="1508760"/>
            <a:ext cx="77724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Art of Selling</a:t>
            </a:r>
            <a:endParaRPr lang="en-US" sz="5400" dirty="0"/>
          </a:p>
        </p:txBody>
      </p:sp>
      <p:sp>
        <p:nvSpPr>
          <p:cNvPr id="6" name="Text 3"/>
          <p:cNvSpPr/>
          <p:nvPr/>
        </p:nvSpPr>
        <p:spPr>
          <a:xfrm>
            <a:off x="548640" y="310896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Based on Tom Hopkins' bestselling framework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548640" y="4206240"/>
            <a:ext cx="2286000" cy="45720"/>
          </a:xfrm>
          <a:prstGeom prst="rect">
            <a:avLst/>
          </a:prstGeom>
          <a:solidFill>
            <a:srgbClr val="C9973A"/>
          </a:solidFill>
          <a:ln w="12700">
            <a:solidFill>
              <a:srgbClr val="C997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548640" y="43434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Training Seminar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2B4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216243D-E0E3-91B7-4F16-88B4E184D1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1">
            <a:extLst>
              <a:ext uri="{FF2B5EF4-FFF2-40B4-BE49-F238E27FC236}">
                <a16:creationId xmlns:a16="http://schemas.microsoft.com/office/drawing/2014/main" id="{3FC9AFB5-D8CD-C584-9E58-13CA9A81454A}"/>
              </a:ext>
            </a:extLst>
          </p:cNvPr>
          <p:cNvSpPr/>
          <p:nvPr/>
        </p:nvSpPr>
        <p:spPr>
          <a:xfrm>
            <a:off x="457199" y="173524"/>
            <a:ext cx="8411421" cy="46526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4000" dirty="0">
                <a:solidFill>
                  <a:schemeClr val="bg1"/>
                </a:solidFill>
              </a:rPr>
              <a:t>"What separates the top 5% of earners from everyone else in any field?"</a:t>
            </a:r>
          </a:p>
        </p:txBody>
      </p:sp>
    </p:spTree>
    <p:extLst>
      <p:ext uri="{BB962C8B-B14F-4D97-AF65-F5344CB8AC3E}">
        <p14:creationId xmlns:p14="http://schemas.microsoft.com/office/powerpoint/2010/main" val="29279627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2B4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9A80018-3C46-3103-4137-F507D70D14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1">
            <a:extLst>
              <a:ext uri="{FF2B5EF4-FFF2-40B4-BE49-F238E27FC236}">
                <a16:creationId xmlns:a16="http://schemas.microsoft.com/office/drawing/2014/main" id="{279DEE3B-ABBB-91FE-1D1D-37668316AD6D}"/>
              </a:ext>
            </a:extLst>
          </p:cNvPr>
          <p:cNvSpPr/>
          <p:nvPr/>
        </p:nvSpPr>
        <p:spPr>
          <a:xfrm>
            <a:off x="457199" y="173524"/>
            <a:ext cx="8411421" cy="46526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Sales?</a:t>
            </a:r>
            <a:endParaRPr lang="en-US" sz="7200" dirty="0"/>
          </a:p>
        </p:txBody>
      </p:sp>
    </p:spTree>
    <p:extLst>
      <p:ext uri="{BB962C8B-B14F-4D97-AF65-F5344CB8AC3E}">
        <p14:creationId xmlns:p14="http://schemas.microsoft.com/office/powerpoint/2010/main" val="25412708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2B4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639A10B-41DB-0439-8A56-DBFC56D983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1">
            <a:extLst>
              <a:ext uri="{FF2B5EF4-FFF2-40B4-BE49-F238E27FC236}">
                <a16:creationId xmlns:a16="http://schemas.microsoft.com/office/drawing/2014/main" id="{8F6B640D-0EAB-6FEC-2393-D3E5D5A25978}"/>
              </a:ext>
            </a:extLst>
          </p:cNvPr>
          <p:cNvSpPr/>
          <p:nvPr/>
        </p:nvSpPr>
        <p:spPr>
          <a:xfrm>
            <a:off x="457199" y="173524"/>
            <a:ext cx="8411421" cy="46526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72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2DAB669-E697-8480-1A50-3BAAFC5695BF}"/>
              </a:ext>
            </a:extLst>
          </p:cNvPr>
          <p:cNvSpPr txBox="1"/>
          <p:nvPr/>
        </p:nvSpPr>
        <p:spPr>
          <a:xfrm>
            <a:off x="1758188" y="2001791"/>
            <a:ext cx="5627621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-    Help people make decisions</a:t>
            </a:r>
          </a:p>
          <a:p>
            <a:pPr marL="285750" indent="-285750" algn="ctr"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You are the economy </a:t>
            </a:r>
          </a:p>
          <a:p>
            <a:pPr marL="285750" indent="-285750" algn="ctr"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Match people with solutions they didn’t know about </a:t>
            </a:r>
          </a:p>
          <a:p>
            <a:pPr marL="285750" indent="-285750" algn="ctr"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Give people permission to have what they want </a:t>
            </a:r>
          </a:p>
          <a:p>
            <a:pPr marL="285750" indent="-285750" algn="ctr"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Source of trust in a low trust world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14ADD58-01E8-0A9E-79C3-5BE60D6C6DE0}"/>
              </a:ext>
            </a:extLst>
          </p:cNvPr>
          <p:cNvSpPr txBox="1"/>
          <p:nvPr/>
        </p:nvSpPr>
        <p:spPr>
          <a:xfrm>
            <a:off x="2543725" y="1210963"/>
            <a:ext cx="423836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u="sng" dirty="0">
                <a:solidFill>
                  <a:schemeClr val="bg1"/>
                </a:solidFill>
              </a:rPr>
              <a:t>Selfless Reasons to be Salesman </a:t>
            </a:r>
          </a:p>
        </p:txBody>
      </p:sp>
    </p:spTree>
    <p:extLst>
      <p:ext uri="{BB962C8B-B14F-4D97-AF65-F5344CB8AC3E}">
        <p14:creationId xmlns:p14="http://schemas.microsoft.com/office/powerpoint/2010/main" val="401905543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1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A2B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Your Sales Roadmap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8229600" cy="45720"/>
          </a:xfrm>
          <a:prstGeom prst="rect">
            <a:avLst/>
          </a:prstGeom>
          <a:solidFill>
            <a:srgbClr val="C9973A"/>
          </a:solidFill>
          <a:ln w="12700">
            <a:solidFill>
              <a:srgbClr val="C997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320040" y="1097280"/>
            <a:ext cx="4023360" cy="64008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2700">
            <a:solidFill>
              <a:srgbClr val="E8E4DC"/>
            </a:solidFill>
            <a:prstDash val="solid"/>
          </a:ln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384048" y="1188720"/>
            <a:ext cx="411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C99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04672" y="114300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 Your Product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804672" y="1417320"/>
            <a:ext cx="3383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Master it better than any prospect ever could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320040" y="1847088"/>
            <a:ext cx="4023360" cy="64008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2700">
            <a:solidFill>
              <a:srgbClr val="E8E4DC"/>
            </a:solidFill>
            <a:prstDash val="solid"/>
          </a:ln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384048" y="1938528"/>
            <a:ext cx="411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C99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04672" y="1892808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the Selling Climate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04672" y="2167128"/>
            <a:ext cx="3383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Arouse emotions, use the right words, sell to decision-makers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20040" y="2596896"/>
            <a:ext cx="4023360" cy="64008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2700">
            <a:solidFill>
              <a:srgbClr val="E8E4DC"/>
            </a:solidFill>
            <a:prstDash val="solid"/>
          </a:ln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384048" y="2688336"/>
            <a:ext cx="411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C99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804672" y="2642616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Right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04672" y="2916936"/>
            <a:ext cx="3383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— never tell. Lead with discovery &amp; leading questions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320040" y="3346704"/>
            <a:ext cx="4023360" cy="64008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2700">
            <a:solidFill>
              <a:srgbClr val="E8E4DC"/>
            </a:solidFill>
            <a:prstDash val="solid"/>
          </a:ln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384048" y="3438144"/>
            <a:ext cx="411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C99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804672" y="3392424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People to Sell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804672" y="3666744"/>
            <a:ext cx="3383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Prospecting ratios, belly-to-belly contact, daily activity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320040" y="4096512"/>
            <a:ext cx="4023360" cy="64008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2700">
            <a:solidFill>
              <a:srgbClr val="E8E4DC"/>
            </a:solidFill>
            <a:prstDash val="solid"/>
          </a:ln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384048" y="4187952"/>
            <a:ext cx="411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C99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04672" y="4142232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Non-Referral Prospecting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804672" y="4416552"/>
            <a:ext cx="3383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Itch cycles, orphan adoption, community involvement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4800600" y="1097280"/>
            <a:ext cx="4023360" cy="64008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2700">
            <a:solidFill>
              <a:srgbClr val="E8E4DC"/>
            </a:solidFill>
            <a:prstDash val="solid"/>
          </a:ln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4864608" y="1188720"/>
            <a:ext cx="411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C99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5285232" y="114300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Referral Prospecting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5285232" y="1417320"/>
            <a:ext cx="3383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 referral system — the easiest close is a warm intro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4800600" y="1847088"/>
            <a:ext cx="4023360" cy="64008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2700">
            <a:solidFill>
              <a:srgbClr val="E8E4DC"/>
            </a:solidFill>
            <a:prstDash val="solid"/>
          </a:ln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4864608" y="1938528"/>
            <a:ext cx="411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C99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5285232" y="1892808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Qualify Your Leads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5285232" y="2167128"/>
            <a:ext cx="3383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Six-step sequence; sell only to those who can say yes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4800600" y="2596896"/>
            <a:ext cx="4023360" cy="64008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2700">
            <a:solidFill>
              <a:srgbClr val="E8E4DC"/>
            </a:solidFill>
            <a:prstDash val="solid"/>
          </a:ln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4864608" y="2688336"/>
            <a:ext cx="411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C99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5285232" y="2642616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to Love No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5285232" y="2916936"/>
            <a:ext cx="3383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Rejection = feedback, practice, and the game you play to win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4800600" y="3346704"/>
            <a:ext cx="4023360" cy="64008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2700">
            <a:solidFill>
              <a:srgbClr val="E8E4DC"/>
            </a:solidFill>
            <a:prstDash val="solid"/>
          </a:ln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4864608" y="3438144"/>
            <a:ext cx="411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C99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5285232" y="3392424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Closing Skills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5285232" y="3666744"/>
            <a:ext cx="3383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closes, empathy, the 14 most important words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800600" y="4096512"/>
            <a:ext cx="4023360" cy="64008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2700">
            <a:solidFill>
              <a:srgbClr val="E8E4DC"/>
            </a:solidFill>
            <a:prstDash val="solid"/>
          </a:ln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1" name="Text 39"/>
          <p:cNvSpPr/>
          <p:nvPr/>
        </p:nvSpPr>
        <p:spPr>
          <a:xfrm>
            <a:off x="4864608" y="4187952"/>
            <a:ext cx="411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C99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5285232" y="4142232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of Thank-You Notes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5285232" y="4416552"/>
            <a:ext cx="3383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simplest habit that multiplies referrals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2B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457200"/>
            <a:ext cx="1463040" cy="146304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27432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C99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3600" dirty="0"/>
          </a:p>
        </p:txBody>
      </p:sp>
      <p:sp>
        <p:nvSpPr>
          <p:cNvPr id="4" name="Text 1"/>
          <p:cNvSpPr/>
          <p:nvPr/>
        </p:nvSpPr>
        <p:spPr>
          <a:xfrm>
            <a:off x="457200" y="777240"/>
            <a:ext cx="6858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Know Your Product</a:t>
            </a:r>
            <a:endParaRPr lang="en-US" sz="3800" dirty="0"/>
          </a:p>
        </p:txBody>
      </p:sp>
      <p:sp>
        <p:nvSpPr>
          <p:cNvPr id="5" name="Text 2"/>
          <p:cNvSpPr/>
          <p:nvPr/>
        </p:nvSpPr>
        <p:spPr>
          <a:xfrm>
            <a:off x="457200" y="1463040"/>
            <a:ext cx="6400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C997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Better Than Any Lead Ever Could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365760" y="2057400"/>
            <a:ext cx="8412480" cy="594360"/>
          </a:xfrm>
          <a:prstGeom prst="roundRect">
            <a:avLst>
              <a:gd name="adj" fmla="val 10769"/>
            </a:avLst>
          </a:prstGeom>
          <a:solidFill>
            <a:srgbClr val="3D5A80">
              <a:alpha val="45000"/>
            </a:srgbClr>
          </a:solidFill>
          <a:ln w="12700">
            <a:solidFill>
              <a:srgbClr val="C997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502920" y="2103120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C997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You can't prospect with strength unless you know your offering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2350008"/>
            <a:ext cx="7955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BD5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knowledge is the foundation — without it you can't prospect, present, or close effectively.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365760" y="2761488"/>
            <a:ext cx="8412480" cy="594360"/>
          </a:xfrm>
          <a:prstGeom prst="roundRect">
            <a:avLst>
              <a:gd name="adj" fmla="val 10769"/>
            </a:avLst>
          </a:prstGeom>
          <a:solidFill>
            <a:srgbClr val="3D5A80">
              <a:alpha val="45000"/>
            </a:srgbClr>
          </a:solidFill>
          <a:ln w="12700">
            <a:solidFill>
              <a:srgbClr val="C997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502920" y="2807208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C997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Know your offering's benefits AND its limitations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502920" y="3054096"/>
            <a:ext cx="7955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BD5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product has a sweet spot. Trying to sell it outside those limits gets you exposed fast.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365760" y="3465576"/>
            <a:ext cx="8412480" cy="594360"/>
          </a:xfrm>
          <a:prstGeom prst="roundRect">
            <a:avLst>
              <a:gd name="adj" fmla="val 10769"/>
            </a:avLst>
          </a:prstGeom>
          <a:solidFill>
            <a:srgbClr val="3D5A80">
              <a:alpha val="45000"/>
            </a:srgbClr>
          </a:solidFill>
          <a:ln w="12700">
            <a:solidFill>
              <a:srgbClr val="C997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/>
          <p:nvPr/>
        </p:nvSpPr>
        <p:spPr>
          <a:xfrm>
            <a:off x="502920" y="3511296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C997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Become the doctor — diagnose before you prescribe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502920" y="3758184"/>
            <a:ext cx="7955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BD5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questions. Gather data. Only when you've zeroed in do you present the solution.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365760" y="4169664"/>
            <a:ext cx="8412480" cy="594360"/>
          </a:xfrm>
          <a:prstGeom prst="roundRect">
            <a:avLst>
              <a:gd name="adj" fmla="val 10769"/>
            </a:avLst>
          </a:prstGeom>
          <a:solidFill>
            <a:srgbClr val="3D5A80">
              <a:alpha val="45000"/>
            </a:srgbClr>
          </a:solidFill>
          <a:ln w="12700">
            <a:solidFill>
              <a:srgbClr val="C997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3"/>
          <p:cNvSpPr/>
          <p:nvPr/>
        </p:nvSpPr>
        <p:spPr>
          <a:xfrm>
            <a:off x="502920" y="4215384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C997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Know the competition, and what qualifications buyers need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502920" y="4462272"/>
            <a:ext cx="7955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BD5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Expertise lets you decide who should — and shouldn't — become your client.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1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C99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6858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A2B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Create the Selling Climate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457200" y="1261872"/>
            <a:ext cx="8229600" cy="45720"/>
          </a:xfrm>
          <a:prstGeom prst="rect">
            <a:avLst/>
          </a:prstGeom>
          <a:solidFill>
            <a:srgbClr val="C9973A"/>
          </a:solidFill>
          <a:ln w="12700">
            <a:solidFill>
              <a:srgbClr val="C997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320040" y="1417320"/>
            <a:ext cx="4206240" cy="1645920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12700">
            <a:solidFill>
              <a:srgbClr val="E0DDD5"/>
            </a:solidFill>
            <a:prstDash val="solid"/>
          </a:ln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581912"/>
            <a:ext cx="347472" cy="34747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1554480"/>
            <a:ext cx="3429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Sell the People Who Can Buy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2011680"/>
            <a:ext cx="3840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spend hours with someone who can't say yes. Find the real decision-maker — the gnome behind the committee — and work with them. In family sales, identify which partner holds the veto.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4709160" y="1417320"/>
            <a:ext cx="4206240" cy="1645920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12700">
            <a:solidFill>
              <a:srgbClr val="E0DDD5"/>
            </a:solidFill>
            <a:prstDash val="solid"/>
          </a:ln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92040" y="1581912"/>
            <a:ext cx="347472" cy="347472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5303520" y="1554480"/>
            <a:ext cx="3429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Don't Sell Logic — Arouse Emotions</a:t>
            </a:r>
            <a:endParaRPr lang="en-US" sz="1100" dirty="0"/>
          </a:p>
        </p:txBody>
      </p:sp>
      <p:sp>
        <p:nvSpPr>
          <p:cNvPr id="12" name="Text 8"/>
          <p:cNvSpPr/>
          <p:nvPr/>
        </p:nvSpPr>
        <p:spPr>
          <a:xfrm>
            <a:off x="4892040" y="2011680"/>
            <a:ext cx="3840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Logic is a gun without a trigger. Buyers purchase on emotion — pride of ownership, security, status, family love — then justify with facts. Hit the emotional hot buttons first.</a:t>
            </a:r>
            <a:endParaRPr lang="en-US" sz="950" dirty="0"/>
          </a:p>
        </p:txBody>
      </p:sp>
      <p:sp>
        <p:nvSpPr>
          <p:cNvPr id="13" name="Shape 9"/>
          <p:cNvSpPr/>
          <p:nvPr/>
        </p:nvSpPr>
        <p:spPr>
          <a:xfrm>
            <a:off x="320040" y="3246120"/>
            <a:ext cx="4206240" cy="1645920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12700">
            <a:solidFill>
              <a:srgbClr val="E0DDD5"/>
            </a:solidFill>
            <a:prstDash val="solid"/>
          </a:ln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2920" y="3410712"/>
            <a:ext cx="347472" cy="347472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914400" y="3383280"/>
            <a:ext cx="3429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Replace Rejection Words with Go-Ahead Terms</a:t>
            </a:r>
            <a:endParaRPr lang="en-US" sz="1100" dirty="0"/>
          </a:p>
        </p:txBody>
      </p:sp>
      <p:sp>
        <p:nvSpPr>
          <p:cNvPr id="16" name="Text 11"/>
          <p:cNvSpPr/>
          <p:nvPr/>
        </p:nvSpPr>
        <p:spPr>
          <a:xfrm>
            <a:off x="502920" y="3840480"/>
            <a:ext cx="3840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"Cost" → "Total Investment" | "Monthly Payment" → "Monthly Amount" | "Contract" → "Agreement" | "Buy" → "Own". Words create images. Negative images destroy sales in seconds.</a:t>
            </a:r>
            <a:endParaRPr lang="en-US" sz="950" dirty="0"/>
          </a:p>
        </p:txBody>
      </p:sp>
      <p:sp>
        <p:nvSpPr>
          <p:cNvPr id="17" name="Shape 12"/>
          <p:cNvSpPr/>
          <p:nvPr/>
        </p:nvSpPr>
        <p:spPr>
          <a:xfrm>
            <a:off x="4709160" y="3246120"/>
            <a:ext cx="4206240" cy="1645920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12700">
            <a:solidFill>
              <a:srgbClr val="E0DDD5"/>
            </a:solidFill>
            <a:prstDash val="solid"/>
          </a:ln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8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92040" y="3410712"/>
            <a:ext cx="347472" cy="347472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5303520" y="3383280"/>
            <a:ext cx="3429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Senses That Sell Emotions</a:t>
            </a:r>
            <a:endParaRPr lang="en-US" sz="1100" dirty="0"/>
          </a:p>
        </p:txBody>
      </p:sp>
      <p:sp>
        <p:nvSpPr>
          <p:cNvPr id="20" name="Text 14"/>
          <p:cNvSpPr/>
          <p:nvPr/>
        </p:nvSpPr>
        <p:spPr>
          <a:xfrm>
            <a:off x="4892040" y="3840480"/>
            <a:ext cx="3840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you say paints a picture. One negative image can wipe out ten positives. Watch your tone, grooming, and body language — prospects react emotionally before they think logically.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2B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89520" y="365760"/>
            <a:ext cx="1188720" cy="11887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27432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C99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2800" dirty="0"/>
          </a:p>
        </p:txBody>
      </p:sp>
      <p:sp>
        <p:nvSpPr>
          <p:cNvPr id="4" name="Text 1"/>
          <p:cNvSpPr/>
          <p:nvPr/>
        </p:nvSpPr>
        <p:spPr>
          <a:xfrm>
            <a:off x="457200" y="685800"/>
            <a:ext cx="6858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Question Right</a:t>
            </a:r>
            <a:endParaRPr lang="en-US" sz="3800" dirty="0"/>
          </a:p>
        </p:txBody>
      </p:sp>
      <p:sp>
        <p:nvSpPr>
          <p:cNvPr id="5" name="Text 2"/>
          <p:cNvSpPr/>
          <p:nvPr/>
        </p:nvSpPr>
        <p:spPr>
          <a:xfrm>
            <a:off x="457200" y="12618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C997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they say it, it's true. If you say it, they doubt you.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365760" y="1828800"/>
            <a:ext cx="4069080" cy="3063240"/>
          </a:xfrm>
          <a:prstGeom prst="roundRect">
            <a:avLst>
              <a:gd name="adj" fmla="val 2985"/>
            </a:avLst>
          </a:prstGeom>
          <a:solidFill>
            <a:srgbClr val="3D5A80">
              <a:alpha val="65000"/>
            </a:srgbClr>
          </a:solidFill>
          <a:ln w="12700">
            <a:solidFill>
              <a:srgbClr val="C997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548640" y="1920240"/>
            <a:ext cx="3703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997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Discovery Questions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48640" y="2377440"/>
            <a:ext cx="3703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C997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</a:t>
            </a: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Reveal what benefits the prospect actually wants to buy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548640" y="2999232"/>
            <a:ext cx="3703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C997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</a:t>
            </a: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ask say-no questions (May I help you? = No, thanks)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548640" y="3621024"/>
            <a:ext cx="3703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C997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</a:t>
            </a: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open openers: Do you use #10 or #12? not Can I quote?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548640" y="4242816"/>
            <a:ext cx="3703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C997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</a:t>
            </a: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 them set direction — then get in front and lead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4709160" y="1828800"/>
            <a:ext cx="4069080" cy="3063240"/>
          </a:xfrm>
          <a:prstGeom prst="roundRect">
            <a:avLst>
              <a:gd name="adj" fmla="val 2985"/>
            </a:avLst>
          </a:prstGeom>
          <a:solidFill>
            <a:srgbClr val="2C4A6B">
              <a:alpha val="65000"/>
            </a:srgbClr>
          </a:solidFill>
          <a:ln w="12700">
            <a:solidFill>
              <a:srgbClr val="C997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/>
          <p:nvPr/>
        </p:nvSpPr>
        <p:spPr>
          <a:xfrm>
            <a:off x="4892040" y="1920240"/>
            <a:ext cx="3703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997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Leading Questions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4892040" y="2377440"/>
            <a:ext cx="3703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C997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</a:t>
            </a: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Cause prospects to affirm your offering in their own words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4892040" y="2999232"/>
            <a:ext cx="3703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C997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</a:t>
            </a: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is important to you, is it not? No one says no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4892040" y="3621024"/>
            <a:ext cx="3703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C997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</a:t>
            </a: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Establish rapport before going for control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4892040" y="4242816"/>
            <a:ext cx="3703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C997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</a:t>
            </a: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principles: bond first, design answers in advance, make decisions for clients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1E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187E9D1-89B0-BCE7-57FD-E83CD8457F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6A97BAA7-EEEF-3BF2-7EE2-65C143B670BE}"/>
              </a:ext>
            </a:extLst>
          </p:cNvPr>
          <p:cNvSpPr/>
          <p:nvPr/>
        </p:nvSpPr>
        <p:spPr>
          <a:xfrm>
            <a:off x="457200" y="22860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C99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03b</a:t>
            </a:r>
            <a:endParaRPr lang="en-US" sz="28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6B5DD432-F6C4-4407-DDAF-C27687609961}"/>
              </a:ext>
            </a:extLst>
          </p:cNvPr>
          <p:cNvSpPr/>
          <p:nvPr/>
        </p:nvSpPr>
        <p:spPr>
          <a:xfrm>
            <a:off x="457200" y="564642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A2B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Types of Questions </a:t>
            </a:r>
            <a:endParaRPr lang="en-US" sz="340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469CA716-2846-D131-EED6-EFFD4142FC8A}"/>
              </a:ext>
            </a:extLst>
          </p:cNvPr>
          <p:cNvSpPr/>
          <p:nvPr/>
        </p:nvSpPr>
        <p:spPr>
          <a:xfrm>
            <a:off x="457200" y="1151817"/>
            <a:ext cx="8229600" cy="45720"/>
          </a:xfrm>
          <a:prstGeom prst="rect">
            <a:avLst/>
          </a:prstGeom>
          <a:solidFill>
            <a:srgbClr val="C9973A"/>
          </a:solidFill>
          <a:ln w="12700">
            <a:solidFill>
              <a:srgbClr val="C997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F3CABC79-8DFA-FDFD-D53D-0D7CF255E3CA}"/>
              </a:ext>
            </a:extLst>
          </p:cNvPr>
          <p:cNvSpPr/>
          <p:nvPr/>
        </p:nvSpPr>
        <p:spPr>
          <a:xfrm>
            <a:off x="318952" y="1671066"/>
            <a:ext cx="4206240" cy="3195828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12700">
            <a:solidFill>
              <a:srgbClr val="E0DDD5"/>
            </a:solidFill>
            <a:prstDash val="solid"/>
          </a:ln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Text 4">
            <a:extLst>
              <a:ext uri="{FF2B5EF4-FFF2-40B4-BE49-F238E27FC236}">
                <a16:creationId xmlns:a16="http://schemas.microsoft.com/office/drawing/2014/main" id="{4417BF36-6BBC-DCEF-B0B5-981C863BE94E}"/>
              </a:ext>
            </a:extLst>
          </p:cNvPr>
          <p:cNvSpPr/>
          <p:nvPr/>
        </p:nvSpPr>
        <p:spPr>
          <a:xfrm>
            <a:off x="502920" y="1734747"/>
            <a:ext cx="3429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Questions – WWWWWH </a:t>
            </a:r>
            <a:endParaRPr lang="en-US" sz="1100" dirty="0"/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1C275E33-5899-A21D-0AC6-D504D27F1B1D}"/>
              </a:ext>
            </a:extLst>
          </p:cNvPr>
          <p:cNvSpPr/>
          <p:nvPr/>
        </p:nvSpPr>
        <p:spPr>
          <a:xfrm>
            <a:off x="678181" y="2081566"/>
            <a:ext cx="3840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900" b="1" dirty="0"/>
              <a:t>W</a:t>
            </a:r>
            <a:r>
              <a:rPr lang="en-US" sz="900" dirty="0"/>
              <a:t>ho will be using this the most?</a:t>
            </a:r>
          </a:p>
          <a:p>
            <a:r>
              <a:rPr lang="en-US" sz="900" b="1" dirty="0"/>
              <a:t>W</a:t>
            </a:r>
            <a:r>
              <a:rPr lang="en-US" sz="900" dirty="0"/>
              <a:t>hat feature is most critical for you?</a:t>
            </a:r>
          </a:p>
          <a:p>
            <a:r>
              <a:rPr lang="en-US" sz="900" b="1" dirty="0"/>
              <a:t>W</a:t>
            </a:r>
            <a:r>
              <a:rPr lang="en-US" sz="900" dirty="0"/>
              <a:t>here do you see this evolving?</a:t>
            </a:r>
          </a:p>
          <a:p>
            <a:r>
              <a:rPr lang="en-US" sz="900" b="1" dirty="0"/>
              <a:t>W</a:t>
            </a:r>
            <a:r>
              <a:rPr lang="en-US" sz="900" dirty="0"/>
              <a:t>hen would you like this implemented?</a:t>
            </a:r>
          </a:p>
          <a:p>
            <a:r>
              <a:rPr lang="en-US" sz="900" b="1" dirty="0"/>
              <a:t>W</a:t>
            </a:r>
            <a:r>
              <a:rPr lang="en-US" sz="900" dirty="0"/>
              <a:t>hy are you investing in this now?</a:t>
            </a:r>
          </a:p>
          <a:p>
            <a:r>
              <a:rPr lang="en-US" sz="900" b="1" dirty="0"/>
              <a:t>H</a:t>
            </a:r>
            <a:r>
              <a:rPr lang="en-US" sz="900" dirty="0"/>
              <a:t>ow do you see it benefiting your team?</a:t>
            </a:r>
          </a:p>
          <a:p>
            <a:pPr marL="0" indent="0">
              <a:buNone/>
            </a:pPr>
            <a:endParaRPr lang="en-US" sz="950" dirty="0"/>
          </a:p>
        </p:txBody>
      </p:sp>
      <p:sp>
        <p:nvSpPr>
          <p:cNvPr id="9" name="Shape 6">
            <a:extLst>
              <a:ext uri="{FF2B5EF4-FFF2-40B4-BE49-F238E27FC236}">
                <a16:creationId xmlns:a16="http://schemas.microsoft.com/office/drawing/2014/main" id="{09D5D177-4495-79C7-5E12-0553A64D58DE}"/>
              </a:ext>
            </a:extLst>
          </p:cNvPr>
          <p:cNvSpPr/>
          <p:nvPr/>
        </p:nvSpPr>
        <p:spPr>
          <a:xfrm>
            <a:off x="4674326" y="1696212"/>
            <a:ext cx="4206240" cy="3195828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12700">
            <a:solidFill>
              <a:srgbClr val="E0DDD5"/>
            </a:solidFill>
            <a:prstDash val="solid"/>
          </a:ln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11" name="Text 7">
            <a:extLst>
              <a:ext uri="{FF2B5EF4-FFF2-40B4-BE49-F238E27FC236}">
                <a16:creationId xmlns:a16="http://schemas.microsoft.com/office/drawing/2014/main" id="{B0ADBC99-6699-3C3F-2814-61FF5B3787EE}"/>
              </a:ext>
            </a:extLst>
          </p:cNvPr>
          <p:cNvSpPr/>
          <p:nvPr/>
        </p:nvSpPr>
        <p:spPr>
          <a:xfrm>
            <a:off x="4937760" y="1650492"/>
            <a:ext cx="3429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Closed Questions </a:t>
            </a:r>
            <a:endParaRPr lang="en-US" sz="1100" dirty="0"/>
          </a:p>
        </p:txBody>
      </p:sp>
      <p:sp>
        <p:nvSpPr>
          <p:cNvPr id="12" name="Text 8">
            <a:extLst>
              <a:ext uri="{FF2B5EF4-FFF2-40B4-BE49-F238E27FC236}">
                <a16:creationId xmlns:a16="http://schemas.microsoft.com/office/drawing/2014/main" id="{E5F59DF0-44F3-B5F2-772A-10B1F501731B}"/>
              </a:ext>
            </a:extLst>
          </p:cNvPr>
          <p:cNvSpPr/>
          <p:nvPr/>
        </p:nvSpPr>
        <p:spPr>
          <a:xfrm>
            <a:off x="5120640" y="1856232"/>
            <a:ext cx="384048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900" b="1" dirty="0"/>
              <a:t>Alternative Option</a:t>
            </a:r>
            <a:endParaRPr lang="en-US" sz="900" dirty="0"/>
          </a:p>
          <a:p>
            <a:r>
              <a:rPr lang="en-US" sz="900" i="1" dirty="0"/>
              <a:t>"Would Tuesday or Thursday work better?“  - Offer two options </a:t>
            </a:r>
            <a:endParaRPr lang="en-US" sz="900" dirty="0"/>
          </a:p>
          <a:p>
            <a:r>
              <a:rPr lang="en-US" sz="900" b="1" dirty="0"/>
              <a:t>Porcupine</a:t>
            </a:r>
            <a:endParaRPr lang="en-US" sz="900" dirty="0"/>
          </a:p>
          <a:p>
            <a:r>
              <a:rPr lang="en-US" sz="900" i="1" dirty="0"/>
              <a:t>"Which color appeals to you most?“ – Answer with a Question </a:t>
            </a:r>
            <a:endParaRPr lang="en-US" sz="900" dirty="0"/>
          </a:p>
          <a:p>
            <a:r>
              <a:rPr lang="en-US" sz="900" b="1" dirty="0"/>
              <a:t>Involvement Question</a:t>
            </a:r>
            <a:endParaRPr lang="en-US" sz="900" dirty="0"/>
          </a:p>
          <a:p>
            <a:r>
              <a:rPr lang="en-US" sz="900" i="1" dirty="0"/>
              <a:t>"Where would you put this in your office?“ – Ownership</a:t>
            </a:r>
          </a:p>
        </p:txBody>
      </p:sp>
      <p:sp>
        <p:nvSpPr>
          <p:cNvPr id="16" name="Text 11">
            <a:extLst>
              <a:ext uri="{FF2B5EF4-FFF2-40B4-BE49-F238E27FC236}">
                <a16:creationId xmlns:a16="http://schemas.microsoft.com/office/drawing/2014/main" id="{FA1940F9-B930-65C9-4D66-F4B28DF20BD6}"/>
              </a:ext>
            </a:extLst>
          </p:cNvPr>
          <p:cNvSpPr/>
          <p:nvPr/>
        </p:nvSpPr>
        <p:spPr>
          <a:xfrm>
            <a:off x="502920" y="3840480"/>
            <a:ext cx="3840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22" name="Text 5">
            <a:extLst>
              <a:ext uri="{FF2B5EF4-FFF2-40B4-BE49-F238E27FC236}">
                <a16:creationId xmlns:a16="http://schemas.microsoft.com/office/drawing/2014/main" id="{A3C06414-1567-AA9B-3C97-0C035AE366CB}"/>
              </a:ext>
            </a:extLst>
          </p:cNvPr>
          <p:cNvSpPr/>
          <p:nvPr/>
        </p:nvSpPr>
        <p:spPr>
          <a:xfrm>
            <a:off x="5097780" y="3063240"/>
            <a:ext cx="3840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900" i="1" dirty="0"/>
              <a:t>“Great idea, isn’t it?“</a:t>
            </a:r>
          </a:p>
          <a:p>
            <a:r>
              <a:rPr lang="en-US" sz="900" i="1" dirty="0"/>
              <a:t>"Isn't it a great product?“</a:t>
            </a:r>
          </a:p>
          <a:p>
            <a:r>
              <a:rPr lang="en-US" sz="900" i="1" dirty="0"/>
              <a:t>"Because it's the best value, isn't it, you'd want to move forward?"</a:t>
            </a:r>
          </a:p>
          <a:p>
            <a:br>
              <a:rPr lang="en-US" sz="900" i="1" dirty="0"/>
            </a:br>
            <a:endParaRPr lang="en-US" sz="950" i="1" dirty="0"/>
          </a:p>
        </p:txBody>
      </p:sp>
      <p:sp>
        <p:nvSpPr>
          <p:cNvPr id="24" name="Text 10">
            <a:extLst>
              <a:ext uri="{FF2B5EF4-FFF2-40B4-BE49-F238E27FC236}">
                <a16:creationId xmlns:a16="http://schemas.microsoft.com/office/drawing/2014/main" id="{EE3A0140-432A-8703-D6E4-A05B0AE951FA}"/>
              </a:ext>
            </a:extLst>
          </p:cNvPr>
          <p:cNvSpPr/>
          <p:nvPr/>
        </p:nvSpPr>
        <p:spPr>
          <a:xfrm>
            <a:off x="4972594" y="2857500"/>
            <a:ext cx="3429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 downs </a:t>
            </a:r>
            <a:endParaRPr lang="en-US" sz="1100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5A53715A-8EDD-85A7-7239-22C93C391514}"/>
              </a:ext>
            </a:extLst>
          </p:cNvPr>
          <p:cNvSpPr txBox="1"/>
          <p:nvPr/>
        </p:nvSpPr>
        <p:spPr>
          <a:xfrm>
            <a:off x="1333825" y="1271015"/>
            <a:ext cx="21764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accent1"/>
                </a:solidFill>
              </a:rPr>
              <a:t>Discovery Questions 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174A4A7-3DA6-8E99-4930-4813CD57690A}"/>
              </a:ext>
            </a:extLst>
          </p:cNvPr>
          <p:cNvSpPr txBox="1"/>
          <p:nvPr/>
        </p:nvSpPr>
        <p:spPr>
          <a:xfrm>
            <a:off x="5564013" y="1269140"/>
            <a:ext cx="19902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accent1"/>
                </a:solidFill>
              </a:rPr>
              <a:t>Leading Questions </a:t>
            </a:r>
          </a:p>
        </p:txBody>
      </p:sp>
      <p:sp>
        <p:nvSpPr>
          <p:cNvPr id="29" name="Text 10">
            <a:extLst>
              <a:ext uri="{FF2B5EF4-FFF2-40B4-BE49-F238E27FC236}">
                <a16:creationId xmlns:a16="http://schemas.microsoft.com/office/drawing/2014/main" id="{E1491DE2-728F-F6E9-FFF0-789B8B562E1B}"/>
              </a:ext>
            </a:extLst>
          </p:cNvPr>
          <p:cNvSpPr/>
          <p:nvPr/>
        </p:nvSpPr>
        <p:spPr>
          <a:xfrm>
            <a:off x="5124994" y="3858768"/>
            <a:ext cx="3561806" cy="79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Leading questions are almost always closed as they are engineered to give you an answer that will lead you to closing a sale. </a:t>
            </a:r>
            <a:endParaRPr lang="en-US" sz="1100" dirty="0"/>
          </a:p>
        </p:txBody>
      </p:sp>
      <p:sp>
        <p:nvSpPr>
          <p:cNvPr id="31" name="Text 10">
            <a:extLst>
              <a:ext uri="{FF2B5EF4-FFF2-40B4-BE49-F238E27FC236}">
                <a16:creationId xmlns:a16="http://schemas.microsoft.com/office/drawing/2014/main" id="{ADD5CDCB-3425-DC19-90A5-91C146A2D470}"/>
              </a:ext>
            </a:extLst>
          </p:cNvPr>
          <p:cNvSpPr/>
          <p:nvPr/>
        </p:nvSpPr>
        <p:spPr>
          <a:xfrm>
            <a:off x="590006" y="3909060"/>
            <a:ext cx="3780608" cy="7457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Discovery phase, questions can be either open or closed as you are looking to better understand the prospects needs and/or wants.</a:t>
            </a:r>
            <a:endParaRPr lang="en-US" sz="1100" dirty="0"/>
          </a:p>
        </p:txBody>
      </p:sp>
      <p:sp>
        <p:nvSpPr>
          <p:cNvPr id="33" name="Text 5">
            <a:extLst>
              <a:ext uri="{FF2B5EF4-FFF2-40B4-BE49-F238E27FC236}">
                <a16:creationId xmlns:a16="http://schemas.microsoft.com/office/drawing/2014/main" id="{08816D77-FBCE-83D3-E806-D4F36ED326B6}"/>
              </a:ext>
            </a:extLst>
          </p:cNvPr>
          <p:cNvSpPr/>
          <p:nvPr/>
        </p:nvSpPr>
        <p:spPr>
          <a:xfrm>
            <a:off x="1086339" y="3149509"/>
            <a:ext cx="2491414" cy="7457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dirty="0"/>
              <a:t>Can this person buy: budget, authority, timeline, need</a:t>
            </a:r>
          </a:p>
          <a:p>
            <a:r>
              <a:rPr lang="en-US" sz="1100" dirty="0"/>
              <a:t>Why do they want this? – emotion</a:t>
            </a:r>
          </a:p>
          <a:p>
            <a:r>
              <a:rPr lang="en-US" sz="1100" dirty="0"/>
              <a:t>What features matter most?</a:t>
            </a:r>
          </a:p>
          <a:p>
            <a:br>
              <a:rPr lang="en-US" sz="900" i="1" dirty="0"/>
            </a:br>
            <a:endParaRPr lang="en-US" sz="950" i="1" dirty="0"/>
          </a:p>
        </p:txBody>
      </p:sp>
    </p:spTree>
    <p:extLst>
      <p:ext uri="{BB962C8B-B14F-4D97-AF65-F5344CB8AC3E}">
        <p14:creationId xmlns:p14="http://schemas.microsoft.com/office/powerpoint/2010/main" val="117297411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2B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89520" y="365760"/>
            <a:ext cx="1188720" cy="11887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27432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C99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2800" dirty="0"/>
          </a:p>
        </p:txBody>
      </p:sp>
      <p:sp>
        <p:nvSpPr>
          <p:cNvPr id="4" name="Text 1"/>
          <p:cNvSpPr/>
          <p:nvPr/>
        </p:nvSpPr>
        <p:spPr>
          <a:xfrm>
            <a:off x="457200" y="685800"/>
            <a:ext cx="7132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Finding People to Sell</a:t>
            </a:r>
            <a:endParaRPr lang="en-US" sz="3600" dirty="0"/>
          </a:p>
        </p:txBody>
      </p:sp>
      <p:sp>
        <p:nvSpPr>
          <p:cNvPr id="5" name="Shape 2"/>
          <p:cNvSpPr/>
          <p:nvPr/>
        </p:nvSpPr>
        <p:spPr>
          <a:xfrm>
            <a:off x="365760" y="1417320"/>
            <a:ext cx="2743200" cy="1828800"/>
          </a:xfrm>
          <a:prstGeom prst="roundRect">
            <a:avLst>
              <a:gd name="adj" fmla="val 6000"/>
            </a:avLst>
          </a:prstGeom>
          <a:solidFill>
            <a:srgbClr val="C9973A">
              <a:alpha val="85000"/>
            </a:srgbClr>
          </a:solidFill>
          <a:ln w="12700">
            <a:solidFill>
              <a:srgbClr val="C997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3"/>
          <p:cNvSpPr/>
          <p:nvPr/>
        </p:nvSpPr>
        <p:spPr>
          <a:xfrm>
            <a:off x="365760" y="155448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</a:t>
            </a:r>
            <a:endParaRPr lang="en-US" sz="7200" dirty="0"/>
          </a:p>
        </p:txBody>
      </p:sp>
      <p:sp>
        <p:nvSpPr>
          <p:cNvPr id="7" name="Text 4"/>
          <p:cNvSpPr/>
          <p:nvPr/>
        </p:nvSpPr>
        <p:spPr>
          <a:xfrm>
            <a:off x="365760" y="246888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People. Belly to Belly. Every Day.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3383280" y="1389888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C997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Your Ratios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3383280" y="1874520"/>
            <a:ext cx="5394960" cy="521208"/>
          </a:xfrm>
          <a:prstGeom prst="roundRect">
            <a:avLst>
              <a:gd name="adj" fmla="val 12281"/>
            </a:avLst>
          </a:prstGeom>
          <a:solidFill>
            <a:srgbClr val="3D5A80">
              <a:alpha val="4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3547872" y="1929384"/>
            <a:ext cx="5074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Prospecting calls / appointments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3547872" y="2148840"/>
            <a:ext cx="5074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Rough starting average: 10:1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3383280" y="2496312"/>
            <a:ext cx="5394960" cy="521208"/>
          </a:xfrm>
          <a:prstGeom prst="roundRect">
            <a:avLst>
              <a:gd name="adj" fmla="val 12281"/>
            </a:avLst>
          </a:prstGeom>
          <a:solidFill>
            <a:srgbClr val="3D5A80">
              <a:alpha val="4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/>
          <p:nvPr/>
        </p:nvSpPr>
        <p:spPr>
          <a:xfrm>
            <a:off x="3547872" y="2551176"/>
            <a:ext cx="5074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Appointments / sales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3547872" y="2770632"/>
            <a:ext cx="5074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~10:1 — varies by industry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3383280" y="3118104"/>
            <a:ext cx="5394960" cy="521208"/>
          </a:xfrm>
          <a:prstGeom prst="roundRect">
            <a:avLst>
              <a:gd name="adj" fmla="val 12281"/>
            </a:avLst>
          </a:prstGeom>
          <a:solidFill>
            <a:srgbClr val="3D5A80">
              <a:alpha val="4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3"/>
          <p:cNvSpPr/>
          <p:nvPr/>
        </p:nvSpPr>
        <p:spPr>
          <a:xfrm>
            <a:off x="3547872" y="3172968"/>
            <a:ext cx="5074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Hours worked / money earned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3547872" y="3392424"/>
            <a:ext cx="5074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twice a year; ruthlessly audit productive time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3383280" y="3739896"/>
            <a:ext cx="5394960" cy="521208"/>
          </a:xfrm>
          <a:prstGeom prst="roundRect">
            <a:avLst>
              <a:gd name="adj" fmla="val 12281"/>
            </a:avLst>
          </a:prstGeom>
          <a:solidFill>
            <a:srgbClr val="3D5A80">
              <a:alpha val="4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6"/>
          <p:cNvSpPr/>
          <p:nvPr/>
        </p:nvSpPr>
        <p:spPr>
          <a:xfrm>
            <a:off x="3547872" y="3794760"/>
            <a:ext cx="5074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Calls last month / income this month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3547872" y="4014216"/>
            <a:ext cx="5074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Activity today pays you 30-90 days from now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365760" y="4462272"/>
            <a:ext cx="8412480" cy="502920"/>
          </a:xfrm>
          <a:prstGeom prst="roundRect">
            <a:avLst>
              <a:gd name="adj" fmla="val 14545"/>
            </a:avLst>
          </a:prstGeom>
          <a:solidFill>
            <a:srgbClr val="C9973A">
              <a:alpha val="20000"/>
            </a:srgbClr>
          </a:solidFill>
          <a:ln w="12700">
            <a:solidFill>
              <a:srgbClr val="C997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19"/>
          <p:cNvSpPr/>
          <p:nvPr/>
        </p:nvSpPr>
        <p:spPr>
          <a:xfrm>
            <a:off x="502920" y="4553712"/>
            <a:ext cx="8138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Champions always make one more call after a rejection — never end on a negative note.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1E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930EAF9-5478-B64B-D642-DF0F91B00F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8FDDAF02-B4A2-0C6B-4E4F-AC2627AD466E}"/>
              </a:ext>
            </a:extLst>
          </p:cNvPr>
          <p:cNvSpPr/>
          <p:nvPr/>
        </p:nvSpPr>
        <p:spPr>
          <a:xfrm>
            <a:off x="457200" y="22860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C99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04b</a:t>
            </a:r>
            <a:endParaRPr lang="en-US" sz="28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E281A907-96EC-FA1D-9CE6-2191CB59DFC0}"/>
              </a:ext>
            </a:extLst>
          </p:cNvPr>
          <p:cNvSpPr/>
          <p:nvPr/>
        </p:nvSpPr>
        <p:spPr>
          <a:xfrm>
            <a:off x="457200" y="6858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A2B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Ratios</a:t>
            </a:r>
            <a:endParaRPr lang="en-US" sz="360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73A1EE17-038A-2A98-E090-27000CAE320B}"/>
              </a:ext>
            </a:extLst>
          </p:cNvPr>
          <p:cNvSpPr/>
          <p:nvPr/>
        </p:nvSpPr>
        <p:spPr>
          <a:xfrm>
            <a:off x="457200" y="1261872"/>
            <a:ext cx="8229600" cy="45720"/>
          </a:xfrm>
          <a:prstGeom prst="rect">
            <a:avLst/>
          </a:prstGeom>
          <a:solidFill>
            <a:srgbClr val="C9973A"/>
          </a:solidFill>
          <a:ln w="12700">
            <a:solidFill>
              <a:srgbClr val="C997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807333C2-64B2-A04A-8FB2-02833E1B5E59}"/>
              </a:ext>
            </a:extLst>
          </p:cNvPr>
          <p:cNvSpPr/>
          <p:nvPr/>
        </p:nvSpPr>
        <p:spPr>
          <a:xfrm>
            <a:off x="457200" y="1389888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D5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Knowing your ratios helps keep you on track and positive </a:t>
            </a:r>
            <a:endParaRPr lang="en-US" sz="1400" dirty="0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A7A0284A-CAFD-CB2F-2C64-4F85B7B0657C}"/>
              </a:ext>
            </a:extLst>
          </p:cNvPr>
          <p:cNvSpPr/>
          <p:nvPr/>
        </p:nvSpPr>
        <p:spPr>
          <a:xfrm>
            <a:off x="320040" y="1874520"/>
            <a:ext cx="8503920" cy="530352"/>
          </a:xfrm>
          <a:prstGeom prst="roundRect">
            <a:avLst>
              <a:gd name="adj" fmla="val 12069"/>
            </a:avLst>
          </a:prstGeom>
          <a:solidFill>
            <a:srgbClr val="FFFFFF"/>
          </a:solidFill>
          <a:ln w="12700">
            <a:solidFill>
              <a:srgbClr val="E0DDD5"/>
            </a:solidFill>
            <a:prstDash val="solid"/>
          </a:ln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516E26BE-A067-33F2-A2A4-8F3BF35C1A2E}"/>
              </a:ext>
            </a:extLst>
          </p:cNvPr>
          <p:cNvSpPr/>
          <p:nvPr/>
        </p:nvSpPr>
        <p:spPr>
          <a:xfrm>
            <a:off x="411480" y="194767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C99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100" dirty="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EDC9A852-5F25-BDB8-038C-4BFD7F66AFDB}"/>
              </a:ext>
            </a:extLst>
          </p:cNvPr>
          <p:cNvSpPr/>
          <p:nvPr/>
        </p:nvSpPr>
        <p:spPr>
          <a:xfrm>
            <a:off x="886968" y="1929384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Rejection Ratio </a:t>
            </a:r>
            <a:endParaRPr lang="en-US" sz="1100" dirty="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722C2BC8-F323-5B16-99DC-B4E68C74B79E}"/>
              </a:ext>
            </a:extLst>
          </p:cNvPr>
          <p:cNvSpPr/>
          <p:nvPr/>
        </p:nvSpPr>
        <p:spPr>
          <a:xfrm>
            <a:off x="886968" y="2148840"/>
            <a:ext cx="7680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Rejections : 1 Sale of $500, each rejection you make $50</a:t>
            </a:r>
            <a:endParaRPr lang="en-US" sz="950" dirty="0"/>
          </a:p>
        </p:txBody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6BCAB0C5-DA4E-0C38-7CED-1ECE9E5B36FA}"/>
              </a:ext>
            </a:extLst>
          </p:cNvPr>
          <p:cNvSpPr/>
          <p:nvPr/>
        </p:nvSpPr>
        <p:spPr>
          <a:xfrm>
            <a:off x="320040" y="2487168"/>
            <a:ext cx="8503920" cy="530352"/>
          </a:xfrm>
          <a:prstGeom prst="roundRect">
            <a:avLst>
              <a:gd name="adj" fmla="val 12069"/>
            </a:avLst>
          </a:prstGeom>
          <a:solidFill>
            <a:srgbClr val="FFFFFF"/>
          </a:solidFill>
          <a:ln w="12700">
            <a:solidFill>
              <a:srgbClr val="E0DDD5"/>
            </a:solidFill>
            <a:prstDash val="solid"/>
          </a:ln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B871FC94-4F49-152B-D2AD-59881F7C4810}"/>
              </a:ext>
            </a:extLst>
          </p:cNvPr>
          <p:cNvSpPr/>
          <p:nvPr/>
        </p:nvSpPr>
        <p:spPr>
          <a:xfrm>
            <a:off x="411480" y="256032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C99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100" dirty="0"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52E9C994-103D-0FEA-B1DB-14444D8BF41D}"/>
              </a:ext>
            </a:extLst>
          </p:cNvPr>
          <p:cNvSpPr/>
          <p:nvPr/>
        </p:nvSpPr>
        <p:spPr>
          <a:xfrm>
            <a:off x="886968" y="2542032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Referral Ratio </a:t>
            </a:r>
            <a:endParaRPr lang="en-US" sz="1100" dirty="0"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ACA9DD58-F607-0A84-1BB9-E59D9B234F31}"/>
              </a:ext>
            </a:extLst>
          </p:cNvPr>
          <p:cNvSpPr/>
          <p:nvPr/>
        </p:nvSpPr>
        <p:spPr>
          <a:xfrm>
            <a:off x="886968" y="2761488"/>
            <a:ext cx="7680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many referrals per sale? </a:t>
            </a:r>
            <a:endParaRPr lang="en-US" sz="950" dirty="0"/>
          </a:p>
        </p:txBody>
      </p:sp>
      <p:sp>
        <p:nvSpPr>
          <p:cNvPr id="14" name="Shape 12">
            <a:extLst>
              <a:ext uri="{FF2B5EF4-FFF2-40B4-BE49-F238E27FC236}">
                <a16:creationId xmlns:a16="http://schemas.microsoft.com/office/drawing/2014/main" id="{2AC0055B-01A4-5B21-D8BF-009BF0C6149E}"/>
              </a:ext>
            </a:extLst>
          </p:cNvPr>
          <p:cNvSpPr/>
          <p:nvPr/>
        </p:nvSpPr>
        <p:spPr>
          <a:xfrm>
            <a:off x="320040" y="3099816"/>
            <a:ext cx="8503920" cy="530352"/>
          </a:xfrm>
          <a:prstGeom prst="roundRect">
            <a:avLst>
              <a:gd name="adj" fmla="val 12069"/>
            </a:avLst>
          </a:prstGeom>
          <a:solidFill>
            <a:srgbClr val="FFFFFF"/>
          </a:solidFill>
          <a:ln w="12700">
            <a:solidFill>
              <a:srgbClr val="E0DDD5"/>
            </a:solidFill>
            <a:prstDash val="solid"/>
          </a:ln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E6636FE3-6501-7691-AF19-D33894840B3E}"/>
              </a:ext>
            </a:extLst>
          </p:cNvPr>
          <p:cNvSpPr/>
          <p:nvPr/>
        </p:nvSpPr>
        <p:spPr>
          <a:xfrm>
            <a:off x="411480" y="3172968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C99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100" dirty="0"/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E8F9E484-B830-F0DD-7F6F-58EC5CFCF564}"/>
              </a:ext>
            </a:extLst>
          </p:cNvPr>
          <p:cNvSpPr/>
          <p:nvPr/>
        </p:nvSpPr>
        <p:spPr>
          <a:xfrm>
            <a:off x="886968" y="3154680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Hours to Dollars Ratio </a:t>
            </a:r>
            <a:endParaRPr lang="en-US" sz="1100" dirty="0"/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AB6BE767-B74B-B28A-CCB8-37358D0B9EF9}"/>
              </a:ext>
            </a:extLst>
          </p:cNvPr>
          <p:cNvSpPr/>
          <p:nvPr/>
        </p:nvSpPr>
        <p:spPr>
          <a:xfrm>
            <a:off x="886968" y="3374136"/>
            <a:ext cx="7680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reflection twice a year </a:t>
            </a:r>
            <a:endParaRPr lang="en-US" sz="950" dirty="0"/>
          </a:p>
        </p:txBody>
      </p:sp>
      <p:sp>
        <p:nvSpPr>
          <p:cNvPr id="18" name="Shape 16">
            <a:extLst>
              <a:ext uri="{FF2B5EF4-FFF2-40B4-BE49-F238E27FC236}">
                <a16:creationId xmlns:a16="http://schemas.microsoft.com/office/drawing/2014/main" id="{C1E8AB70-3C48-9474-A99D-81BFA4BB6354}"/>
              </a:ext>
            </a:extLst>
          </p:cNvPr>
          <p:cNvSpPr/>
          <p:nvPr/>
        </p:nvSpPr>
        <p:spPr>
          <a:xfrm>
            <a:off x="320040" y="3712464"/>
            <a:ext cx="8503920" cy="530352"/>
          </a:xfrm>
          <a:prstGeom prst="roundRect">
            <a:avLst>
              <a:gd name="adj" fmla="val 12069"/>
            </a:avLst>
          </a:prstGeom>
          <a:solidFill>
            <a:srgbClr val="FFFFFF"/>
          </a:solidFill>
          <a:ln w="12700">
            <a:solidFill>
              <a:srgbClr val="E0DDD5"/>
            </a:solidFill>
            <a:prstDash val="solid"/>
          </a:ln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95495D72-C3C5-BCFB-64C5-EA78A3DB37AF}"/>
              </a:ext>
            </a:extLst>
          </p:cNvPr>
          <p:cNvSpPr/>
          <p:nvPr/>
        </p:nvSpPr>
        <p:spPr>
          <a:xfrm>
            <a:off x="411480" y="3785616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C99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100" dirty="0"/>
          </a:p>
        </p:txBody>
      </p:sp>
      <p:sp>
        <p:nvSpPr>
          <p:cNvPr id="20" name="Text 18">
            <a:extLst>
              <a:ext uri="{FF2B5EF4-FFF2-40B4-BE49-F238E27FC236}">
                <a16:creationId xmlns:a16="http://schemas.microsoft.com/office/drawing/2014/main" id="{F7986755-DD77-1F82-A79E-7CDD6F9E77D6}"/>
              </a:ext>
            </a:extLst>
          </p:cNvPr>
          <p:cNvSpPr/>
          <p:nvPr/>
        </p:nvSpPr>
        <p:spPr>
          <a:xfrm>
            <a:off x="886968" y="3767328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Prospecting Ratios </a:t>
            </a:r>
            <a:endParaRPr lang="en-US" sz="1100" dirty="0"/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ADE684BA-78E6-2548-3BA7-994459B07315}"/>
              </a:ext>
            </a:extLst>
          </p:cNvPr>
          <p:cNvSpPr/>
          <p:nvPr/>
        </p:nvSpPr>
        <p:spPr>
          <a:xfrm>
            <a:off x="886968" y="3986784"/>
            <a:ext cx="7680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Prospect calls made per Hour of Prospecting + Prospecting Calls to Appointments Set </a:t>
            </a:r>
            <a:endParaRPr lang="en-US" sz="950" dirty="0"/>
          </a:p>
        </p:txBody>
      </p:sp>
      <p:sp>
        <p:nvSpPr>
          <p:cNvPr id="22" name="Shape 20">
            <a:extLst>
              <a:ext uri="{FF2B5EF4-FFF2-40B4-BE49-F238E27FC236}">
                <a16:creationId xmlns:a16="http://schemas.microsoft.com/office/drawing/2014/main" id="{9A0317E6-C858-F07C-E129-8AC2DD848BC4}"/>
              </a:ext>
            </a:extLst>
          </p:cNvPr>
          <p:cNvSpPr/>
          <p:nvPr/>
        </p:nvSpPr>
        <p:spPr>
          <a:xfrm>
            <a:off x="320040" y="4325112"/>
            <a:ext cx="8503920" cy="530352"/>
          </a:xfrm>
          <a:prstGeom prst="roundRect">
            <a:avLst>
              <a:gd name="adj" fmla="val 12069"/>
            </a:avLst>
          </a:prstGeom>
          <a:solidFill>
            <a:srgbClr val="FFFFFF"/>
          </a:solidFill>
          <a:ln w="12700">
            <a:solidFill>
              <a:srgbClr val="E0DDD5"/>
            </a:solidFill>
            <a:prstDash val="solid"/>
          </a:ln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3" name="Text 21">
            <a:extLst>
              <a:ext uri="{FF2B5EF4-FFF2-40B4-BE49-F238E27FC236}">
                <a16:creationId xmlns:a16="http://schemas.microsoft.com/office/drawing/2014/main" id="{FAB5C724-2143-AFDA-E693-53CAD1ED46BE}"/>
              </a:ext>
            </a:extLst>
          </p:cNvPr>
          <p:cNvSpPr/>
          <p:nvPr/>
        </p:nvSpPr>
        <p:spPr>
          <a:xfrm>
            <a:off x="411480" y="4398264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C99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100" dirty="0"/>
          </a:p>
        </p:txBody>
      </p:sp>
      <p:sp>
        <p:nvSpPr>
          <p:cNvPr id="24" name="Text 22">
            <a:extLst>
              <a:ext uri="{FF2B5EF4-FFF2-40B4-BE49-F238E27FC236}">
                <a16:creationId xmlns:a16="http://schemas.microsoft.com/office/drawing/2014/main" id="{D97C81C8-A0C5-C1FB-FA21-7D99498DE85F}"/>
              </a:ext>
            </a:extLst>
          </p:cNvPr>
          <p:cNvSpPr/>
          <p:nvPr/>
        </p:nvSpPr>
        <p:spPr>
          <a:xfrm>
            <a:off x="886968" y="4379976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Lag Ratios</a:t>
            </a:r>
            <a:endParaRPr lang="en-US" sz="1100" dirty="0"/>
          </a:p>
        </p:txBody>
      </p:sp>
      <p:sp>
        <p:nvSpPr>
          <p:cNvPr id="25" name="Text 23">
            <a:extLst>
              <a:ext uri="{FF2B5EF4-FFF2-40B4-BE49-F238E27FC236}">
                <a16:creationId xmlns:a16="http://schemas.microsoft.com/office/drawing/2014/main" id="{73424B9D-F2BC-D3F2-CAFE-32B5F75E2A7B}"/>
              </a:ext>
            </a:extLst>
          </p:cNvPr>
          <p:cNvSpPr/>
          <p:nvPr/>
        </p:nvSpPr>
        <p:spPr>
          <a:xfrm>
            <a:off x="886968" y="4599432"/>
            <a:ext cx="7680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 to determine the time passed between Prospecting and making a Sale </a:t>
            </a:r>
            <a:endParaRPr lang="en-US" sz="950" dirty="0"/>
          </a:p>
        </p:txBody>
      </p:sp>
      <p:sp>
        <p:nvSpPr>
          <p:cNvPr id="26" name="Shape 24">
            <a:extLst>
              <a:ext uri="{FF2B5EF4-FFF2-40B4-BE49-F238E27FC236}">
                <a16:creationId xmlns:a16="http://schemas.microsoft.com/office/drawing/2014/main" id="{12845E3E-41BB-023F-9C16-04649ECF9A80}"/>
              </a:ext>
            </a:extLst>
          </p:cNvPr>
          <p:cNvSpPr/>
          <p:nvPr/>
        </p:nvSpPr>
        <p:spPr>
          <a:xfrm>
            <a:off x="320040" y="4937760"/>
            <a:ext cx="8503920" cy="109728"/>
          </a:xfrm>
          <a:prstGeom prst="roundRect">
            <a:avLst>
              <a:gd name="adj" fmla="val 41667"/>
            </a:avLst>
          </a:prstGeom>
          <a:solidFill>
            <a:srgbClr val="1A2B4A"/>
          </a:solidFill>
          <a:ln w="12700">
            <a:solidFill>
              <a:srgbClr val="1A2B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487518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1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C99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6858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A2B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Non-Referral Prospecting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457200" y="1261872"/>
            <a:ext cx="8229600" cy="45720"/>
          </a:xfrm>
          <a:prstGeom prst="rect">
            <a:avLst/>
          </a:prstGeom>
          <a:solidFill>
            <a:srgbClr val="C9973A"/>
          </a:solidFill>
          <a:ln w="12700">
            <a:solidFill>
              <a:srgbClr val="C997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274320" y="1444752"/>
            <a:ext cx="2743200" cy="16002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0DDD5"/>
            </a:solidFill>
            <a:prstDash val="solid"/>
          </a:ln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438912" y="1581912"/>
            <a:ext cx="347472" cy="347472"/>
          </a:xfrm>
          <a:prstGeom prst="ellipse">
            <a:avLst/>
          </a:prstGeom>
          <a:solidFill>
            <a:srgbClr val="1A2B4A"/>
          </a:solidFill>
          <a:ln w="12700">
            <a:solidFill>
              <a:srgbClr val="1A2B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438912" y="158191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841248" y="1609344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Itch Cycle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38912" y="1993392"/>
            <a:ext cx="246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product has a natural replacement cycle. Know when your clients are ready to itch again and be there first.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3227832" y="1444752"/>
            <a:ext cx="2743200" cy="16002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0DDD5"/>
            </a:solidFill>
            <a:prstDash val="solid"/>
          </a:ln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3392424" y="1581912"/>
            <a:ext cx="347472" cy="347472"/>
          </a:xfrm>
          <a:prstGeom prst="ellipse">
            <a:avLst/>
          </a:prstGeom>
          <a:solidFill>
            <a:srgbClr val="1A2B4A"/>
          </a:solidFill>
          <a:ln w="12700">
            <a:solidFill>
              <a:srgbClr val="1A2B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3392424" y="158191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794760" y="1609344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Orphan Adoption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3392424" y="1993392"/>
            <a:ext cx="246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Former clients of salespeople who left your company. They have no rep — adopt them and serve them.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6181344" y="1444752"/>
            <a:ext cx="2743200" cy="16002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0DDD5"/>
            </a:solidFill>
            <a:prstDash val="solid"/>
          </a:ln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6345936" y="1581912"/>
            <a:ext cx="347472" cy="347472"/>
          </a:xfrm>
          <a:prstGeom prst="ellipse">
            <a:avLst/>
          </a:prstGeom>
          <a:solidFill>
            <a:srgbClr val="1A2B4A"/>
          </a:solidFill>
          <a:ln w="12700">
            <a:solidFill>
              <a:srgbClr val="1A2B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6345936" y="158191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748272" y="1609344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Newspapers</a:t>
            </a:r>
          </a:p>
          <a:p>
            <a:pPr marL="0" indent="0">
              <a:buNone/>
            </a:pPr>
            <a:r>
              <a:rPr lang="en-US" sz="11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Social Media 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345936" y="1993392"/>
            <a:ext cx="246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Birth, marriage, promotion, and business announcements are prospecting gold. Congratulate and connect.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274320" y="3200400"/>
            <a:ext cx="2743200" cy="16002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0DDD5"/>
            </a:solidFill>
            <a:prstDash val="solid"/>
          </a:ln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438912" y="3337560"/>
            <a:ext cx="347472" cy="347472"/>
          </a:xfrm>
          <a:prstGeom prst="ellipse">
            <a:avLst/>
          </a:prstGeom>
          <a:solidFill>
            <a:srgbClr val="1A2B4A"/>
          </a:solidFill>
          <a:ln w="12700">
            <a:solidFill>
              <a:srgbClr val="1A2B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438912" y="333756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841248" y="3364992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Claim-Staking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38912" y="3749040"/>
            <a:ext cx="246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 a neighborhood or niche and become the recognized expert. Consistency in one area beats scattered effort.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3227832" y="3200400"/>
            <a:ext cx="2743200" cy="16002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0DDD5"/>
            </a:solidFill>
            <a:prstDash val="solid"/>
          </a:ln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3392424" y="3337560"/>
            <a:ext cx="347472" cy="347472"/>
          </a:xfrm>
          <a:prstGeom prst="ellipse">
            <a:avLst/>
          </a:prstGeom>
          <a:solidFill>
            <a:srgbClr val="1A2B4A"/>
          </a:solidFill>
          <a:ln w="12700">
            <a:solidFill>
              <a:srgbClr val="1A2B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3392424" y="333756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3794760" y="3364992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Swap Meets / Leads Clubs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3392424" y="3749040"/>
            <a:ext cx="246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groups that trade non-competitive leads. One good relationship in a club can fuel months of pipeline.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6181344" y="3200400"/>
            <a:ext cx="2743200" cy="16002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0DDD5"/>
            </a:solidFill>
            <a:prstDash val="solid"/>
          </a:ln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1" name="Shape 29"/>
          <p:cNvSpPr/>
          <p:nvPr/>
        </p:nvSpPr>
        <p:spPr>
          <a:xfrm>
            <a:off x="6345936" y="3337560"/>
            <a:ext cx="347472" cy="347472"/>
          </a:xfrm>
          <a:prstGeom prst="ellipse">
            <a:avLst/>
          </a:prstGeom>
          <a:solidFill>
            <a:srgbClr val="1A2B4A"/>
          </a:solidFill>
          <a:ln w="12700">
            <a:solidFill>
              <a:srgbClr val="1A2B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6345936" y="333756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6748272" y="3364992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Community Involvement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345936" y="3749040"/>
            <a:ext cx="246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Volunteer, sponsor, participate. You become a known trusted face — the exact person people want to buy from.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A2B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89520" y="365760"/>
            <a:ext cx="1188720" cy="11887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27432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C99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2800" dirty="0"/>
          </a:p>
        </p:txBody>
      </p:sp>
      <p:sp>
        <p:nvSpPr>
          <p:cNvPr id="4" name="Text 1"/>
          <p:cNvSpPr/>
          <p:nvPr/>
        </p:nvSpPr>
        <p:spPr>
          <a:xfrm>
            <a:off x="457200" y="685800"/>
            <a:ext cx="7132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Referral Prospecting</a:t>
            </a:r>
            <a:endParaRPr lang="en-US" sz="3800" dirty="0"/>
          </a:p>
        </p:txBody>
      </p:sp>
      <p:sp>
        <p:nvSpPr>
          <p:cNvPr id="5" name="Text 2"/>
          <p:cNvSpPr/>
          <p:nvPr/>
        </p:nvSpPr>
        <p:spPr>
          <a:xfrm>
            <a:off x="457200" y="1261872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C997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easiest close is a warm introduction.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320040" y="1783080"/>
            <a:ext cx="1965960" cy="1188720"/>
          </a:xfrm>
          <a:prstGeom prst="roundRect">
            <a:avLst>
              <a:gd name="adj" fmla="val 7692"/>
            </a:avLst>
          </a:prstGeom>
          <a:solidFill>
            <a:srgbClr val="4A6B8A"/>
          </a:solidFill>
          <a:ln w="12700">
            <a:solidFill>
              <a:srgbClr val="C997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320040" y="1874520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referral/sale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320040" y="2377440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C997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50%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2468880" y="1783080"/>
            <a:ext cx="1965960" cy="1188720"/>
          </a:xfrm>
          <a:prstGeom prst="roundRect">
            <a:avLst>
              <a:gd name="adj" fmla="val 7692"/>
            </a:avLst>
          </a:prstGeom>
          <a:solidFill>
            <a:srgbClr val="3D5A80"/>
          </a:solidFill>
          <a:ln w="12700">
            <a:solidFill>
              <a:srgbClr val="C997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2468880" y="1874520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referrals/sale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2468880" y="2377440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C997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20%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617720" y="1783080"/>
            <a:ext cx="1965960" cy="1188720"/>
          </a:xfrm>
          <a:prstGeom prst="roundRect">
            <a:avLst>
              <a:gd name="adj" fmla="val 7692"/>
            </a:avLst>
          </a:prstGeom>
          <a:solidFill>
            <a:srgbClr val="1D4D7A"/>
          </a:solidFill>
          <a:ln w="12700">
            <a:solidFill>
              <a:srgbClr val="C997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/>
          <p:nvPr/>
        </p:nvSpPr>
        <p:spPr>
          <a:xfrm>
            <a:off x="4617720" y="1874520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referrals/sale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4617720" y="2377440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C997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10%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6766560" y="1783080"/>
            <a:ext cx="1965960" cy="1188720"/>
          </a:xfrm>
          <a:prstGeom prst="roundRect">
            <a:avLst>
              <a:gd name="adj" fmla="val 7692"/>
            </a:avLst>
          </a:prstGeom>
          <a:solidFill>
            <a:srgbClr val="1A2B4A"/>
          </a:solidFill>
          <a:ln w="25400">
            <a:solidFill>
              <a:srgbClr val="C997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3"/>
          <p:cNvSpPr/>
          <p:nvPr/>
        </p:nvSpPr>
        <p:spPr>
          <a:xfrm>
            <a:off x="6766560" y="1874520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4+ referrals/sale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6766560" y="2377440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C997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5%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57200" y="3127248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C997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Card Referral System — 6 Steps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457200" y="3566160"/>
            <a:ext cx="8321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C997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</a:t>
            </a: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Isolate faces — bring small groups to mind (their bowling team, troop, etc.)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457200" y="3813048"/>
            <a:ext cx="8321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C997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</a:t>
            </a: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full names and correct spelling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457200" y="4059936"/>
            <a:ext cx="8321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C997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</a:t>
            </a: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qualifying questions — why did that person come to mind?</a:t>
            </a:r>
            <a:endParaRPr lang="en-US" sz="1000" dirty="0"/>
          </a:p>
        </p:txBody>
      </p:sp>
      <p:sp>
        <p:nvSpPr>
          <p:cNvPr id="22" name="Text 19"/>
          <p:cNvSpPr/>
          <p:nvPr/>
        </p:nvSpPr>
        <p:spPr>
          <a:xfrm>
            <a:off x="457200" y="4306824"/>
            <a:ext cx="8321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C997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</a:t>
            </a: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contact info or look it up together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457200" y="4553712"/>
            <a:ext cx="8321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C997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</a:t>
            </a: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them to call — give you permission to use their name if not</a:t>
            </a:r>
            <a:endParaRPr lang="en-US" sz="1000" dirty="0"/>
          </a:p>
        </p:txBody>
      </p:sp>
      <p:sp>
        <p:nvSpPr>
          <p:cNvPr id="24" name="Text 21"/>
          <p:cNvSpPr/>
          <p:nvPr/>
        </p:nvSpPr>
        <p:spPr>
          <a:xfrm>
            <a:off x="457200" y="4800600"/>
            <a:ext cx="8321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C997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 </a:t>
            </a: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Promise highest-quality service and follow through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1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C99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6858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A2B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Qualifying Your Leads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457200" y="1261872"/>
            <a:ext cx="8229600" cy="45720"/>
          </a:xfrm>
          <a:prstGeom prst="rect">
            <a:avLst/>
          </a:prstGeom>
          <a:solidFill>
            <a:srgbClr val="C9973A"/>
          </a:solidFill>
          <a:ln w="12700">
            <a:solidFill>
              <a:srgbClr val="C997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138988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can't make money trying to sell the wrong people.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320040" y="1783080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D5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Pre-Qualifying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20040" y="2194560"/>
            <a:ext cx="4114800" cy="566928"/>
          </a:xfrm>
          <a:prstGeom prst="roundRect">
            <a:avLst>
              <a:gd name="adj" fmla="val 11290"/>
            </a:avLst>
          </a:prstGeom>
          <a:solidFill>
            <a:srgbClr val="FFFFFF"/>
          </a:solidFill>
          <a:ln w="12700">
            <a:solidFill>
              <a:srgbClr val="E0DDD5"/>
            </a:solidFill>
            <a:prstDash val="solid"/>
          </a:ln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457200" y="2276856"/>
            <a:ext cx="3840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Identify the true decision-maker before investing time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0040" y="2862072"/>
            <a:ext cx="4114800" cy="566928"/>
          </a:xfrm>
          <a:prstGeom prst="roundRect">
            <a:avLst>
              <a:gd name="adj" fmla="val 11290"/>
            </a:avLst>
          </a:prstGeom>
          <a:solidFill>
            <a:srgbClr val="FFFFFF"/>
          </a:solidFill>
          <a:ln w="12700">
            <a:solidFill>
              <a:srgbClr val="E0DDD5"/>
            </a:solidFill>
            <a:prstDash val="solid"/>
          </a:ln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57200" y="2944368"/>
            <a:ext cx="3840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In committee sales — find the influential 'gnome' behind the title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0040" y="3529584"/>
            <a:ext cx="4114800" cy="566928"/>
          </a:xfrm>
          <a:prstGeom prst="roundRect">
            <a:avLst>
              <a:gd name="adj" fmla="val 11290"/>
            </a:avLst>
          </a:prstGeom>
          <a:solidFill>
            <a:srgbClr val="FFFFFF"/>
          </a:solidFill>
          <a:ln w="12700">
            <a:solidFill>
              <a:srgbClr val="E0DDD5"/>
            </a:solidFill>
            <a:prstDash val="solid"/>
          </a:ln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457200" y="3611880"/>
            <a:ext cx="3840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In family sales — determine who holds the real veto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20040" y="4197096"/>
            <a:ext cx="4114800" cy="566928"/>
          </a:xfrm>
          <a:prstGeom prst="roundRect">
            <a:avLst>
              <a:gd name="adj" fmla="val 11290"/>
            </a:avLst>
          </a:prstGeom>
          <a:solidFill>
            <a:srgbClr val="FFFFFF"/>
          </a:solidFill>
          <a:ln w="12700">
            <a:solidFill>
              <a:srgbClr val="E0DDD5"/>
            </a:solidFill>
            <a:prstDash val="solid"/>
          </a:ln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457200" y="4279392"/>
            <a:ext cx="3840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Never try to close people who can't say yes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709160" y="1783080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D5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Qualifying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709160" y="2194560"/>
            <a:ext cx="4114800" cy="566928"/>
          </a:xfrm>
          <a:prstGeom prst="roundRect">
            <a:avLst>
              <a:gd name="adj" fmla="val 11290"/>
            </a:avLst>
          </a:prstGeom>
          <a:solidFill>
            <a:srgbClr val="FFFFFF"/>
          </a:solidFill>
          <a:ln w="12700">
            <a:solidFill>
              <a:srgbClr val="E0DDD5"/>
            </a:solidFill>
            <a:prstDash val="solid"/>
          </a:ln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4846320" y="2276856"/>
            <a:ext cx="3840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Six-step sequence: who, what, when, why, how, how much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709160" y="2862072"/>
            <a:ext cx="4114800" cy="566928"/>
          </a:xfrm>
          <a:prstGeom prst="roundRect">
            <a:avLst>
              <a:gd name="adj" fmla="val 11290"/>
            </a:avLst>
          </a:prstGeom>
          <a:solidFill>
            <a:srgbClr val="FFFFFF"/>
          </a:solidFill>
          <a:ln w="12700">
            <a:solidFill>
              <a:srgbClr val="E0DDD5"/>
            </a:solidFill>
            <a:prstDash val="solid"/>
          </a:ln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4846320" y="2944368"/>
            <a:ext cx="3840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Use the Triplicate of Choice to focus options (A, B, or C?)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709160" y="3529584"/>
            <a:ext cx="4114800" cy="566928"/>
          </a:xfrm>
          <a:prstGeom prst="roundRect">
            <a:avLst>
              <a:gd name="adj" fmla="val 11290"/>
            </a:avLst>
          </a:prstGeom>
          <a:solidFill>
            <a:srgbClr val="FFFFFF"/>
          </a:solidFill>
          <a:ln w="12700">
            <a:solidFill>
              <a:srgbClr val="E0DDD5"/>
            </a:solidFill>
            <a:prstDash val="solid"/>
          </a:ln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4846320" y="3611880"/>
            <a:ext cx="3840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Avoid the Uh-Price trap — qualify budget early without triggering fear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709160" y="4197096"/>
            <a:ext cx="4114800" cy="566928"/>
          </a:xfrm>
          <a:prstGeom prst="roundRect">
            <a:avLst>
              <a:gd name="adj" fmla="val 11290"/>
            </a:avLst>
          </a:prstGeom>
          <a:solidFill>
            <a:srgbClr val="FFFFFF"/>
          </a:solidFill>
          <a:ln w="12700">
            <a:solidFill>
              <a:srgbClr val="E0DDD5"/>
            </a:solidFill>
            <a:prstDash val="solid"/>
          </a:ln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4846320" y="4279392"/>
            <a:ext cx="3840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Lots of appointments + few sales = qualification problem, not closing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2B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/>
          <a:stretch>
            <a:fillRect/>
          </a:stretch>
        </p:blipFill>
        <p:spPr>
          <a:xfrm>
            <a:off x="7863840" y="274320"/>
            <a:ext cx="914400" cy="9144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256032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C99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07b</a:t>
            </a:r>
            <a:endParaRPr lang="en-US" sz="2400" dirty="0"/>
          </a:p>
        </p:txBody>
      </p:sp>
      <p:sp>
        <p:nvSpPr>
          <p:cNvPr id="4" name="Text 1"/>
          <p:cNvSpPr/>
          <p:nvPr/>
        </p:nvSpPr>
        <p:spPr>
          <a:xfrm>
            <a:off x="457200" y="640080"/>
            <a:ext cx="7498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Triplicate of Choice for Money</a:t>
            </a:r>
            <a:endParaRPr lang="en-US" sz="3400" dirty="0"/>
          </a:p>
        </p:txBody>
      </p:sp>
      <p:sp>
        <p:nvSpPr>
          <p:cNvPr id="5" name="Text 2"/>
          <p:cNvSpPr/>
          <p:nvPr/>
        </p:nvSpPr>
        <p:spPr>
          <a:xfrm>
            <a:off x="457200" y="1216152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C997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best single strategy for eliminating price as an objection.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365760" y="1627632"/>
            <a:ext cx="8412480" cy="1188720"/>
          </a:xfrm>
          <a:prstGeom prst="roundRect">
            <a:avLst>
              <a:gd name="adj" fmla="val 7692"/>
            </a:avLst>
          </a:prstGeom>
          <a:solidFill>
            <a:srgbClr val="3D5A80">
              <a:alpha val="60000"/>
            </a:srgbClr>
          </a:solidFill>
          <a:ln w="12700">
            <a:solidFill>
              <a:srgbClr val="C997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457200" y="1572768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C997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</a:t>
            </a:r>
            <a:endParaRPr lang="en-US" sz="4800" dirty="0"/>
          </a:p>
        </p:txBody>
      </p:sp>
      <p:sp>
        <p:nvSpPr>
          <p:cNvPr id="8" name="Text 5"/>
          <p:cNvSpPr/>
          <p:nvPr/>
        </p:nvSpPr>
        <p:spPr>
          <a:xfrm>
            <a:off x="594360" y="1737360"/>
            <a:ext cx="80467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people interested in acquiring this are prepared to invest [HIGH]. A fortunate few can invest between [HIGHER] and [HIGHEST]. And then there are those on a limited or fixed budget who — with the high cost of everything today — can't go higher than [YOUR PRICE]. May I ask, which of these categories does your company fit into most comfortably?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229600" y="237744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3600" b="1" dirty="0">
                <a:solidFill>
                  <a:srgbClr val="C997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”</a:t>
            </a:r>
            <a:endParaRPr lang="en-US" sz="3600" dirty="0"/>
          </a:p>
        </p:txBody>
      </p:sp>
      <p:sp>
        <p:nvSpPr>
          <p:cNvPr id="10" name="Text 7"/>
          <p:cNvSpPr/>
          <p:nvPr/>
        </p:nvSpPr>
        <p:spPr>
          <a:xfrm>
            <a:off x="6858000" y="2834640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i="1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Tom Hopkins, Ch. 14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365760" y="3154680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997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5-Step Formula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365760" y="3547872"/>
            <a:ext cx="4114800" cy="393192"/>
          </a:xfrm>
          <a:prstGeom prst="roundRect">
            <a:avLst>
              <a:gd name="adj" fmla="val 13953"/>
            </a:avLst>
          </a:prstGeom>
          <a:solidFill>
            <a:srgbClr val="FFFFFF">
              <a:alpha val="92000"/>
            </a:srgbClr>
          </a:solidFill>
          <a:ln w="12700">
            <a:solidFill>
              <a:srgbClr val="FFFFFF"/>
            </a:solidFill>
            <a:prstDash val="solid"/>
          </a:ln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/>
          <p:nvPr/>
        </p:nvSpPr>
        <p:spPr>
          <a:xfrm>
            <a:off x="457200" y="3611880"/>
            <a:ext cx="6217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C99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1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1078992" y="361188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Quote 20% ABOVE your actual investment (the anchor)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365760" y="4005072"/>
            <a:ext cx="4114800" cy="393192"/>
          </a:xfrm>
          <a:prstGeom prst="roundRect">
            <a:avLst>
              <a:gd name="adj" fmla="val 13953"/>
            </a:avLst>
          </a:prstGeom>
          <a:solidFill>
            <a:srgbClr val="FFFFFF">
              <a:alpha val="92000"/>
            </a:srgbClr>
          </a:solidFill>
          <a:ln w="12700">
            <a:solidFill>
              <a:srgbClr val="FFFFFF"/>
            </a:solidFill>
            <a:prstDash val="solid"/>
          </a:ln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Text 13"/>
          <p:cNvSpPr/>
          <p:nvPr/>
        </p:nvSpPr>
        <p:spPr>
          <a:xfrm>
            <a:off x="457200" y="4069080"/>
            <a:ext cx="6217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C99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2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1078992" y="406908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Quote a range of 50-100% above your price (makes the anchor feel reasonable)</a:t>
            </a:r>
            <a:endParaRPr lang="en-US" sz="900" dirty="0"/>
          </a:p>
        </p:txBody>
      </p:sp>
      <p:sp>
        <p:nvSpPr>
          <p:cNvPr id="18" name="Shape 15"/>
          <p:cNvSpPr/>
          <p:nvPr/>
        </p:nvSpPr>
        <p:spPr>
          <a:xfrm>
            <a:off x="365760" y="4462272"/>
            <a:ext cx="4114800" cy="393192"/>
          </a:xfrm>
          <a:prstGeom prst="roundRect">
            <a:avLst>
              <a:gd name="adj" fmla="val 13953"/>
            </a:avLst>
          </a:prstGeom>
          <a:solidFill>
            <a:srgbClr val="FFFFFF">
              <a:alpha val="92000"/>
            </a:srgbClr>
          </a:solidFill>
          <a:ln w="12700">
            <a:solidFill>
              <a:srgbClr val="FFFFFF"/>
            </a:solidFill>
            <a:prstDash val="solid"/>
          </a:ln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Text 16"/>
          <p:cNvSpPr/>
          <p:nvPr/>
        </p:nvSpPr>
        <p:spPr>
          <a:xfrm>
            <a:off x="457200" y="4526280"/>
            <a:ext cx="6217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C99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3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1078992" y="452628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your ACTUAL price last — as the floor / budget option</a:t>
            </a:r>
            <a:endParaRPr lang="en-US" sz="900" dirty="0"/>
          </a:p>
        </p:txBody>
      </p:sp>
      <p:sp>
        <p:nvSpPr>
          <p:cNvPr id="21" name="Shape 18"/>
          <p:cNvSpPr/>
          <p:nvPr/>
        </p:nvSpPr>
        <p:spPr>
          <a:xfrm>
            <a:off x="4663440" y="3547872"/>
            <a:ext cx="4114800" cy="393192"/>
          </a:xfrm>
          <a:prstGeom prst="roundRect">
            <a:avLst>
              <a:gd name="adj" fmla="val 13953"/>
            </a:avLst>
          </a:prstGeom>
          <a:solidFill>
            <a:srgbClr val="FFFFFF">
              <a:alpha val="92000"/>
            </a:srgbClr>
          </a:solidFill>
          <a:ln w="12700">
            <a:solidFill>
              <a:srgbClr val="FFFFFF"/>
            </a:solidFill>
            <a:prstDash val="solid"/>
          </a:ln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2" name="Text 19"/>
          <p:cNvSpPr/>
          <p:nvPr/>
        </p:nvSpPr>
        <p:spPr>
          <a:xfrm>
            <a:off x="4754880" y="3611880"/>
            <a:ext cx="6217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C99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4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5376672" y="361188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Ask: "Which category does your company fit into most comfortably?"</a:t>
            </a:r>
            <a:endParaRPr lang="en-US" sz="900" dirty="0"/>
          </a:p>
        </p:txBody>
      </p:sp>
      <p:sp>
        <p:nvSpPr>
          <p:cNvPr id="24" name="Shape 21"/>
          <p:cNvSpPr/>
          <p:nvPr/>
        </p:nvSpPr>
        <p:spPr>
          <a:xfrm>
            <a:off x="4663440" y="4005072"/>
            <a:ext cx="4114800" cy="393192"/>
          </a:xfrm>
          <a:prstGeom prst="roundRect">
            <a:avLst>
              <a:gd name="adj" fmla="val 13953"/>
            </a:avLst>
          </a:prstGeom>
          <a:solidFill>
            <a:srgbClr val="FFFFFF">
              <a:alpha val="92000"/>
            </a:srgbClr>
          </a:solidFill>
          <a:ln w="12700">
            <a:solidFill>
              <a:srgbClr val="FFFFFF"/>
            </a:solidFill>
            <a:prstDash val="solid"/>
          </a:ln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5" name="Text 22"/>
          <p:cNvSpPr/>
          <p:nvPr/>
        </p:nvSpPr>
        <p:spPr>
          <a:xfrm>
            <a:off x="4754880" y="4069080"/>
            <a:ext cx="6217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C99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5</a:t>
            </a:r>
            <a:endParaRPr lang="en-US" sz="900" dirty="0"/>
          </a:p>
        </p:txBody>
      </p:sp>
      <p:sp>
        <p:nvSpPr>
          <p:cNvPr id="26" name="Text 23"/>
          <p:cNvSpPr/>
          <p:nvPr/>
        </p:nvSpPr>
        <p:spPr>
          <a:xfrm>
            <a:off x="5376672" y="406908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Whatever they pick, reply: "Great news — the model that meets all your needs is only [your price]" — which is always at or below what they stated</a:t>
            </a:r>
            <a:endParaRPr lang="en-US" sz="900" dirty="0"/>
          </a:p>
        </p:txBody>
      </p:sp>
      <p:sp>
        <p:nvSpPr>
          <p:cNvPr id="27" name="Shape 24"/>
          <p:cNvSpPr/>
          <p:nvPr/>
        </p:nvSpPr>
        <p:spPr>
          <a:xfrm>
            <a:off x="365760" y="4892040"/>
            <a:ext cx="8412480" cy="164592"/>
          </a:xfrm>
          <a:prstGeom prst="roundRect">
            <a:avLst>
              <a:gd name="adj" fmla="val 33333"/>
            </a:avLst>
          </a:prstGeom>
          <a:solidFill>
            <a:srgbClr val="C9973A">
              <a:alpha val="25000"/>
            </a:srgbClr>
          </a:solidFill>
          <a:ln w="12700">
            <a:solidFill>
              <a:srgbClr val="C997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5"/>
          <p:cNvSpPr/>
          <p:nvPr/>
        </p:nvSpPr>
        <p:spPr>
          <a:xfrm>
            <a:off x="502920" y="4919472"/>
            <a:ext cx="813816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win no matter which category they pick — your price always lands at or below what they said they could spend.</a:t>
            </a:r>
            <a:endParaRPr lang="en-US" sz="9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1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C99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6858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A2B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 to Love No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457200" y="1261872"/>
            <a:ext cx="8229600" cy="45720"/>
          </a:xfrm>
          <a:prstGeom prst="rect">
            <a:avLst/>
          </a:prstGeom>
          <a:solidFill>
            <a:srgbClr val="C9973A"/>
          </a:solidFill>
          <a:ln w="12700">
            <a:solidFill>
              <a:srgbClr val="C997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1389888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D5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Five Attitudes Toward Rejection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20040" y="1874520"/>
            <a:ext cx="8503920" cy="530352"/>
          </a:xfrm>
          <a:prstGeom prst="roundRect">
            <a:avLst>
              <a:gd name="adj" fmla="val 12069"/>
            </a:avLst>
          </a:prstGeom>
          <a:solidFill>
            <a:srgbClr val="FFFFFF"/>
          </a:solidFill>
          <a:ln w="12700">
            <a:solidFill>
              <a:srgbClr val="E0DDD5"/>
            </a:solidFill>
            <a:prstDash val="solid"/>
          </a:ln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411480" y="194767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C99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886968" y="1929384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Learning Experience  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886968" y="2148840"/>
            <a:ext cx="7680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Don't ask what you did wrong — ask what lesson you just paid for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320040" y="2487168"/>
            <a:ext cx="8503920" cy="530352"/>
          </a:xfrm>
          <a:prstGeom prst="roundRect">
            <a:avLst>
              <a:gd name="adj" fmla="val 12069"/>
            </a:avLst>
          </a:prstGeom>
          <a:solidFill>
            <a:srgbClr val="FFFFFF"/>
          </a:solidFill>
          <a:ln w="12700">
            <a:solidFill>
              <a:srgbClr val="E0DDD5"/>
            </a:solidFill>
            <a:prstDash val="solid"/>
          </a:ln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11480" y="256032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C99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886968" y="2542032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Correction  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886968" y="2761488"/>
            <a:ext cx="7680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Rejection is negative feedback that steers you back toward the target. Like a missile — adjust and keep going.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320040" y="3099816"/>
            <a:ext cx="8503920" cy="530352"/>
          </a:xfrm>
          <a:prstGeom prst="roundRect">
            <a:avLst>
              <a:gd name="adj" fmla="val 12069"/>
            </a:avLst>
          </a:prstGeom>
          <a:solidFill>
            <a:srgbClr val="FFFFFF"/>
          </a:solidFill>
          <a:ln w="12700">
            <a:solidFill>
              <a:srgbClr val="E0DDD5"/>
            </a:solidFill>
            <a:prstDash val="solid"/>
          </a:ln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411480" y="3172968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C99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886968" y="3154680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Sense of Humor  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886968" y="3374136"/>
            <a:ext cx="7680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disaster you can't laugh at today is the story you'll kill with in three weeks. Laugh sooner.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320040" y="3712464"/>
            <a:ext cx="8503920" cy="530352"/>
          </a:xfrm>
          <a:prstGeom prst="roundRect">
            <a:avLst>
              <a:gd name="adj" fmla="val 12069"/>
            </a:avLst>
          </a:prstGeom>
          <a:solidFill>
            <a:srgbClr val="FFFFFF"/>
          </a:solidFill>
          <a:ln w="12700">
            <a:solidFill>
              <a:srgbClr val="E0DDD5"/>
            </a:solidFill>
            <a:prstDash val="solid"/>
          </a:ln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411480" y="3785616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C99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886968" y="3767328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Practice Opportunity  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886968" y="3986784"/>
            <a:ext cx="7680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no is a free practice session. Perfect your technique — perfection compounds into sales.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320040" y="4325112"/>
            <a:ext cx="8503920" cy="530352"/>
          </a:xfrm>
          <a:prstGeom prst="roundRect">
            <a:avLst>
              <a:gd name="adj" fmla="val 12069"/>
            </a:avLst>
          </a:prstGeom>
          <a:solidFill>
            <a:srgbClr val="FFFFFF"/>
          </a:solidFill>
          <a:ln w="12700">
            <a:solidFill>
              <a:srgbClr val="E0DDD5"/>
            </a:solidFill>
            <a:prstDash val="solid"/>
          </a:ln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411480" y="4398264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C99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886968" y="4379976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It's the Game  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886968" y="4599432"/>
            <a:ext cx="7680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Selling is a percentage game. The more people you see, the more yeses emerge. Champions always make one more call after a rejection.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320040" y="4937760"/>
            <a:ext cx="8503920" cy="109728"/>
          </a:xfrm>
          <a:prstGeom prst="roundRect">
            <a:avLst>
              <a:gd name="adj" fmla="val 41667"/>
            </a:avLst>
          </a:prstGeom>
          <a:solidFill>
            <a:srgbClr val="1A2B4A"/>
          </a:solidFill>
          <a:ln w="12700">
            <a:solidFill>
              <a:srgbClr val="1A2B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1E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0860C8D-08D0-1BA4-47B3-B48094AFBC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88971039-A17E-B980-2259-E6C6C83C18BC}"/>
              </a:ext>
            </a:extLst>
          </p:cNvPr>
          <p:cNvSpPr/>
          <p:nvPr/>
        </p:nvSpPr>
        <p:spPr>
          <a:xfrm>
            <a:off x="457200" y="22860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C99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08b</a:t>
            </a:r>
            <a:endParaRPr lang="en-US" sz="28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0B0C69F9-3479-2C72-7837-C7A26EBACCF0}"/>
              </a:ext>
            </a:extLst>
          </p:cNvPr>
          <p:cNvSpPr/>
          <p:nvPr/>
        </p:nvSpPr>
        <p:spPr>
          <a:xfrm>
            <a:off x="457200" y="6858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A2B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Objections vs Rejections</a:t>
            </a:r>
            <a:endParaRPr lang="en-US" sz="360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4F5EB4EF-EFBC-9189-FDC2-1EB2BA1DCB36}"/>
              </a:ext>
            </a:extLst>
          </p:cNvPr>
          <p:cNvSpPr/>
          <p:nvPr/>
        </p:nvSpPr>
        <p:spPr>
          <a:xfrm>
            <a:off x="457200" y="1261872"/>
            <a:ext cx="8229600" cy="45720"/>
          </a:xfrm>
          <a:prstGeom prst="rect">
            <a:avLst/>
          </a:prstGeom>
          <a:solidFill>
            <a:srgbClr val="C9973A"/>
          </a:solidFill>
          <a:ln w="12700">
            <a:solidFill>
              <a:srgbClr val="C997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928956BB-935A-0395-EF66-4240D6521DA1}"/>
              </a:ext>
            </a:extLst>
          </p:cNvPr>
          <p:cNvSpPr/>
          <p:nvPr/>
        </p:nvSpPr>
        <p:spPr>
          <a:xfrm>
            <a:off x="249430" y="1904847"/>
            <a:ext cx="4093087" cy="2958737"/>
          </a:xfrm>
          <a:prstGeom prst="roundRect">
            <a:avLst>
              <a:gd name="adj" fmla="val 12069"/>
            </a:avLst>
          </a:prstGeom>
          <a:solidFill>
            <a:srgbClr val="FFFFFF"/>
          </a:solidFill>
          <a:ln w="12700">
            <a:solidFill>
              <a:srgbClr val="E0DDD5"/>
            </a:solidFill>
            <a:prstDash val="solid"/>
          </a:ln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630EEE2C-DE68-4A54-DEAA-8F42D84BEB56}"/>
              </a:ext>
            </a:extLst>
          </p:cNvPr>
          <p:cNvSpPr/>
          <p:nvPr/>
        </p:nvSpPr>
        <p:spPr>
          <a:xfrm>
            <a:off x="886968" y="1929383"/>
            <a:ext cx="3208414" cy="2787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1450" indent="-171450">
              <a:buFontTx/>
              <a:buChar char="-"/>
            </a:pPr>
            <a:r>
              <a:rPr lang="en-US" sz="1100" dirty="0"/>
              <a:t>Learn to love them</a:t>
            </a:r>
          </a:p>
          <a:p>
            <a:pPr marL="171450" indent="-171450">
              <a:buFontTx/>
              <a:buChar char="-"/>
            </a:pPr>
            <a:r>
              <a:rPr lang="en-US" sz="1100" dirty="0"/>
              <a:t>Objections are a part of every sale </a:t>
            </a:r>
          </a:p>
          <a:p>
            <a:pPr marL="171450" indent="-171450">
              <a:buFontTx/>
              <a:buChar char="-"/>
            </a:pPr>
            <a:r>
              <a:rPr lang="en-US" sz="1100" dirty="0"/>
              <a:t>Rungs on a ladder</a:t>
            </a:r>
          </a:p>
          <a:p>
            <a:pPr marL="171450" indent="-171450">
              <a:buFontTx/>
              <a:buChar char="-"/>
            </a:pPr>
            <a:r>
              <a:rPr lang="en-US" sz="1100" dirty="0"/>
              <a:t>Minor vs Major </a:t>
            </a:r>
          </a:p>
          <a:p>
            <a:pPr marL="171450" indent="-171450">
              <a:buFontTx/>
              <a:buChar char="-"/>
            </a:pPr>
            <a:r>
              <a:rPr lang="en-US" sz="1100" dirty="0"/>
              <a:t>Reveal where their interest lie </a:t>
            </a:r>
          </a:p>
          <a:p>
            <a:pPr marL="171450" indent="-171450">
              <a:buFontTx/>
              <a:buChar char="-"/>
            </a:pPr>
            <a:r>
              <a:rPr lang="en-US" sz="1100" b="1" dirty="0"/>
              <a:t>Don’t</a:t>
            </a:r>
            <a:r>
              <a:rPr lang="en-US" sz="1100" dirty="0"/>
              <a:t> argue </a:t>
            </a:r>
          </a:p>
          <a:p>
            <a:pPr marL="171450" indent="-171450">
              <a:buFontTx/>
              <a:buChar char="-"/>
            </a:pPr>
            <a:r>
              <a:rPr lang="en-US" sz="1100" b="1" dirty="0"/>
              <a:t>Don’t</a:t>
            </a:r>
            <a:r>
              <a:rPr lang="en-US" sz="1100" dirty="0"/>
              <a:t> attack them when you overcome the objection </a:t>
            </a:r>
          </a:p>
          <a:p>
            <a:pPr marL="171450" indent="-171450">
              <a:buFontTx/>
              <a:buChar char="-"/>
            </a:pPr>
            <a:r>
              <a:rPr lang="en-US" sz="1100" b="1" dirty="0"/>
              <a:t>Do</a:t>
            </a:r>
            <a:r>
              <a:rPr lang="en-US" sz="1100" dirty="0"/>
              <a:t> lead them to the answer of their own objection </a:t>
            </a:r>
          </a:p>
          <a:p>
            <a:r>
              <a:rPr lang="en-US" sz="1100" dirty="0"/>
              <a:t>(“When I say it, they tend to doubt me. When they say it, it’s true)</a:t>
            </a:r>
          </a:p>
          <a:p>
            <a:r>
              <a:rPr lang="en-US" sz="1100" dirty="0"/>
              <a:t>-  </a:t>
            </a:r>
          </a:p>
          <a:p>
            <a:pPr marL="171450" indent="-171450">
              <a:buFontTx/>
              <a:buChar char="-"/>
            </a:pPr>
            <a:endParaRPr lang="en-US" sz="1100" dirty="0"/>
          </a:p>
          <a:p>
            <a:pPr marL="171450" indent="-171450">
              <a:buFontTx/>
              <a:buChar char="-"/>
            </a:pPr>
            <a:endParaRPr lang="en-US" sz="1100" dirty="0"/>
          </a:p>
        </p:txBody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AC42DF7B-232B-1A53-E3D9-BEB621D0B461}"/>
              </a:ext>
            </a:extLst>
          </p:cNvPr>
          <p:cNvSpPr/>
          <p:nvPr/>
        </p:nvSpPr>
        <p:spPr>
          <a:xfrm>
            <a:off x="4504567" y="1856232"/>
            <a:ext cx="4446138" cy="2958736"/>
          </a:xfrm>
          <a:prstGeom prst="roundRect">
            <a:avLst>
              <a:gd name="adj" fmla="val 12069"/>
            </a:avLst>
          </a:prstGeom>
          <a:solidFill>
            <a:srgbClr val="FFFFFF"/>
          </a:solidFill>
          <a:ln w="12700">
            <a:solidFill>
              <a:srgbClr val="E0DDD5"/>
            </a:solidFill>
            <a:prstDash val="solid"/>
          </a:ln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6" name="Shape 24">
            <a:extLst>
              <a:ext uri="{FF2B5EF4-FFF2-40B4-BE49-F238E27FC236}">
                <a16:creationId xmlns:a16="http://schemas.microsoft.com/office/drawing/2014/main" id="{0D32C0BC-5733-219E-BA53-F0307CDE39D9}"/>
              </a:ext>
            </a:extLst>
          </p:cNvPr>
          <p:cNvSpPr/>
          <p:nvPr/>
        </p:nvSpPr>
        <p:spPr>
          <a:xfrm>
            <a:off x="320040" y="4937760"/>
            <a:ext cx="8503920" cy="109728"/>
          </a:xfrm>
          <a:prstGeom prst="roundRect">
            <a:avLst>
              <a:gd name="adj" fmla="val 41667"/>
            </a:avLst>
          </a:prstGeom>
          <a:solidFill>
            <a:srgbClr val="1A2B4A"/>
          </a:solidFill>
          <a:ln w="12700">
            <a:solidFill>
              <a:srgbClr val="1A2B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0B643C2-29F8-DF00-AA46-73FB7EB0436C}"/>
              </a:ext>
            </a:extLst>
          </p:cNvPr>
          <p:cNvSpPr txBox="1"/>
          <p:nvPr/>
        </p:nvSpPr>
        <p:spPr>
          <a:xfrm>
            <a:off x="1664013" y="1498655"/>
            <a:ext cx="12639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Objections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8AB1B724-9542-8651-EF90-06B88AC1CE15}"/>
              </a:ext>
            </a:extLst>
          </p:cNvPr>
          <p:cNvSpPr txBox="1"/>
          <p:nvPr/>
        </p:nvSpPr>
        <p:spPr>
          <a:xfrm>
            <a:off x="5260448" y="1422892"/>
            <a:ext cx="25878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How to Handle them 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D870CE34-5B01-12C1-D43A-EFBC6BAA6384}"/>
              </a:ext>
            </a:extLst>
          </p:cNvPr>
          <p:cNvSpPr txBox="1"/>
          <p:nvPr/>
        </p:nvSpPr>
        <p:spPr>
          <a:xfrm>
            <a:off x="4836788" y="2248930"/>
            <a:ext cx="3798820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en-US" dirty="0"/>
              <a:t>Conditions: valid reason to not go ahead </a:t>
            </a:r>
          </a:p>
          <a:p>
            <a:pPr marL="285750" indent="-285750">
              <a:buFontTx/>
              <a:buChar char="-"/>
            </a:pPr>
            <a:r>
              <a:rPr lang="en-US" dirty="0"/>
              <a:t>How to handle them </a:t>
            </a:r>
          </a:p>
          <a:p>
            <a:pPr marL="285750" indent="-285750">
              <a:buFontTx/>
              <a:buChar char="-"/>
            </a:pPr>
            <a:r>
              <a:rPr lang="en-US" dirty="0"/>
              <a:t>Mindset </a:t>
            </a:r>
          </a:p>
          <a:p>
            <a:pPr marL="285750" indent="-285750">
              <a:buFontTx/>
              <a:buChar char="-"/>
            </a:pPr>
            <a:r>
              <a:rPr lang="en-US" dirty="0"/>
              <a:t>Ratios</a:t>
            </a:r>
          </a:p>
          <a:p>
            <a:pPr marL="285750" indent="-285750">
              <a:buFontTx/>
              <a:buChar char="-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43592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1E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9171C26-4EFF-17B3-BDFA-8BA5C4B34F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6B7E388B-8374-F4FB-43BF-CA38D140DEA7}"/>
              </a:ext>
            </a:extLst>
          </p:cNvPr>
          <p:cNvSpPr/>
          <p:nvPr/>
        </p:nvSpPr>
        <p:spPr>
          <a:xfrm>
            <a:off x="457200" y="22860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C99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08b</a:t>
            </a:r>
            <a:endParaRPr lang="en-US" sz="28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A7697FF3-8B65-FFA4-E919-113BD4A69B48}"/>
              </a:ext>
            </a:extLst>
          </p:cNvPr>
          <p:cNvSpPr/>
          <p:nvPr/>
        </p:nvSpPr>
        <p:spPr>
          <a:xfrm>
            <a:off x="457200" y="6858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A2B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Objections vs Rejections</a:t>
            </a:r>
            <a:endParaRPr lang="en-US" sz="360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F931FA06-354D-BA5A-4E4A-D7032B8DC6FE}"/>
              </a:ext>
            </a:extLst>
          </p:cNvPr>
          <p:cNvSpPr/>
          <p:nvPr/>
        </p:nvSpPr>
        <p:spPr>
          <a:xfrm>
            <a:off x="457200" y="1261872"/>
            <a:ext cx="8229600" cy="45720"/>
          </a:xfrm>
          <a:prstGeom prst="rect">
            <a:avLst/>
          </a:prstGeom>
          <a:solidFill>
            <a:srgbClr val="C9973A"/>
          </a:solidFill>
          <a:ln w="12700">
            <a:solidFill>
              <a:srgbClr val="C997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A1B14EB3-01BA-91F0-1074-C2233A44D078}"/>
              </a:ext>
            </a:extLst>
          </p:cNvPr>
          <p:cNvSpPr/>
          <p:nvPr/>
        </p:nvSpPr>
        <p:spPr>
          <a:xfrm>
            <a:off x="1478839" y="1802067"/>
            <a:ext cx="6186322" cy="2958736"/>
          </a:xfrm>
          <a:prstGeom prst="roundRect">
            <a:avLst>
              <a:gd name="adj" fmla="val 12069"/>
            </a:avLst>
          </a:prstGeom>
          <a:solidFill>
            <a:srgbClr val="FFFFFF"/>
          </a:solidFill>
          <a:ln w="12700">
            <a:solidFill>
              <a:srgbClr val="E0DDD5"/>
            </a:solidFill>
            <a:prstDash val="solid"/>
          </a:ln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6" name="Shape 24">
            <a:extLst>
              <a:ext uri="{FF2B5EF4-FFF2-40B4-BE49-F238E27FC236}">
                <a16:creationId xmlns:a16="http://schemas.microsoft.com/office/drawing/2014/main" id="{F2C553B9-9C9D-0407-18A8-617BB595575B}"/>
              </a:ext>
            </a:extLst>
          </p:cNvPr>
          <p:cNvSpPr/>
          <p:nvPr/>
        </p:nvSpPr>
        <p:spPr>
          <a:xfrm>
            <a:off x="320040" y="4937760"/>
            <a:ext cx="8503920" cy="109728"/>
          </a:xfrm>
          <a:prstGeom prst="roundRect">
            <a:avLst>
              <a:gd name="adj" fmla="val 41667"/>
            </a:avLst>
          </a:prstGeom>
          <a:solidFill>
            <a:srgbClr val="1A2B4A"/>
          </a:solidFill>
          <a:ln w="12700">
            <a:solidFill>
              <a:srgbClr val="1A2B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F2E0B7ED-95DF-939F-4678-E6BCD96A43BB}"/>
              </a:ext>
            </a:extLst>
          </p:cNvPr>
          <p:cNvSpPr txBox="1"/>
          <p:nvPr/>
        </p:nvSpPr>
        <p:spPr>
          <a:xfrm>
            <a:off x="3978875" y="1443191"/>
            <a:ext cx="11862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Rejections</a:t>
            </a:r>
            <a:r>
              <a:rPr lang="en-US" dirty="0"/>
              <a:t> 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4639F063-9825-A77E-6B91-A8F1D5B023AD}"/>
              </a:ext>
            </a:extLst>
          </p:cNvPr>
          <p:cNvSpPr txBox="1"/>
          <p:nvPr/>
        </p:nvSpPr>
        <p:spPr>
          <a:xfrm>
            <a:off x="3022109" y="2354845"/>
            <a:ext cx="4254255" cy="12311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en-US" sz="1400" b="1" dirty="0"/>
              <a:t>Conditions: </a:t>
            </a:r>
            <a:r>
              <a:rPr lang="en-US" sz="1400" dirty="0"/>
              <a:t>valid reason to not go ahead </a:t>
            </a:r>
          </a:p>
          <a:p>
            <a:pPr marL="285750" indent="-285750">
              <a:buFontTx/>
              <a:buChar char="-"/>
            </a:pPr>
            <a:r>
              <a:rPr lang="en-US" sz="1400" dirty="0"/>
              <a:t>How to handle them </a:t>
            </a:r>
          </a:p>
          <a:p>
            <a:pPr marL="285750" indent="-285750">
              <a:buFontTx/>
              <a:buChar char="-"/>
            </a:pPr>
            <a:r>
              <a:rPr lang="en-US" sz="1400" dirty="0"/>
              <a:t>Mindset + Ratios </a:t>
            </a:r>
          </a:p>
          <a:p>
            <a:pPr marL="285750" indent="-285750">
              <a:buFontTx/>
              <a:buChar char="-"/>
            </a:pPr>
            <a:r>
              <a:rPr lang="en-US" sz="1400" dirty="0"/>
              <a:t>Ratios</a:t>
            </a:r>
          </a:p>
          <a:p>
            <a:pPr marL="285750" indent="-285750">
              <a:buFontTx/>
              <a:buChar char="-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7525915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A2B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80" y="365760"/>
            <a:ext cx="1371600" cy="9144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27432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C99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2800" dirty="0"/>
          </a:p>
        </p:txBody>
      </p:sp>
      <p:sp>
        <p:nvSpPr>
          <p:cNvPr id="4" name="Text 1"/>
          <p:cNvSpPr/>
          <p:nvPr/>
        </p:nvSpPr>
        <p:spPr>
          <a:xfrm>
            <a:off x="457200" y="685800"/>
            <a:ext cx="6858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Closing Skills</a:t>
            </a:r>
            <a:endParaRPr lang="en-US" sz="4000" dirty="0"/>
          </a:p>
        </p:txBody>
      </p:sp>
      <p:sp>
        <p:nvSpPr>
          <p:cNvPr id="5" name="Shape 2"/>
          <p:cNvSpPr/>
          <p:nvPr/>
        </p:nvSpPr>
        <p:spPr>
          <a:xfrm>
            <a:off x="365760" y="141732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C9973A">
              <a:alpha val="85000"/>
            </a:srgbClr>
          </a:solidFill>
          <a:ln w="12700">
            <a:solidFill>
              <a:srgbClr val="C997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3"/>
          <p:cNvSpPr/>
          <p:nvPr/>
        </p:nvSpPr>
        <p:spPr>
          <a:xfrm>
            <a:off x="548640" y="1481328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14 Most Important Words in Closing: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48640" y="173736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If I can show you... would you be willing to move forward today?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365760" y="2331720"/>
            <a:ext cx="8412480" cy="566928"/>
          </a:xfrm>
          <a:prstGeom prst="roundRect">
            <a:avLst>
              <a:gd name="adj" fmla="val 11290"/>
            </a:avLst>
          </a:prstGeom>
          <a:solidFill>
            <a:srgbClr val="3D5A80">
              <a:alpha val="50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502920" y="2386584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C997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Closes Early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502920" y="2624328"/>
            <a:ext cx="8046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CBD5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minor agreements throughout the presentation to gauge buy-in: That makes sense, does it not? Let them say yes many times before the big ask.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65760" y="2999232"/>
            <a:ext cx="8412480" cy="566928"/>
          </a:xfrm>
          <a:prstGeom prst="roundRect">
            <a:avLst>
              <a:gd name="adj" fmla="val 11290"/>
            </a:avLst>
          </a:prstGeom>
          <a:solidFill>
            <a:srgbClr val="3D5A80">
              <a:alpha val="50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502920" y="3054096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C997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 with Empathy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502920" y="3291840"/>
            <a:ext cx="8046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CBD5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Feel what they feel. The close is not a conquest — it's guiding them to a decision that genuinely helps them.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365760" y="3666744"/>
            <a:ext cx="8412480" cy="566928"/>
          </a:xfrm>
          <a:prstGeom prst="roundRect">
            <a:avLst>
              <a:gd name="adj" fmla="val 11290"/>
            </a:avLst>
          </a:prstGeom>
          <a:solidFill>
            <a:srgbClr val="3D5A80">
              <a:alpha val="50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/>
          <p:nvPr/>
        </p:nvSpPr>
        <p:spPr>
          <a:xfrm>
            <a:off x="502920" y="3721608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C997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 Through Their Eyes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502920" y="3959352"/>
            <a:ext cx="8046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CBD5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does owning this look like for them? Paint the picture from their perspective, not yours.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365760" y="4334256"/>
            <a:ext cx="8412480" cy="566928"/>
          </a:xfrm>
          <a:prstGeom prst="roundRect">
            <a:avLst>
              <a:gd name="adj" fmla="val 11290"/>
            </a:avLst>
          </a:prstGeom>
          <a:solidFill>
            <a:srgbClr val="3D5A80">
              <a:alpha val="50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5"/>
          <p:cNvSpPr/>
          <p:nvPr/>
        </p:nvSpPr>
        <p:spPr>
          <a:xfrm>
            <a:off x="502920" y="438912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C997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&amp; Where to Close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502920" y="4626864"/>
            <a:ext cx="8046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CBD5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 when emotional momentum is highest. Anywhere they're comfortable — their home, your showroom, a coffee meeting.</a:t>
            </a:r>
            <a:endParaRPr lang="en-US" sz="9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1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C99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6858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A2B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Power of Thank-You Notes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457200" y="1261872"/>
            <a:ext cx="8229600" cy="45720"/>
          </a:xfrm>
          <a:prstGeom prst="rect">
            <a:avLst/>
          </a:prstGeom>
          <a:solidFill>
            <a:srgbClr val="C9973A"/>
          </a:solidFill>
          <a:ln w="12700">
            <a:solidFill>
              <a:srgbClr val="C997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463040"/>
            <a:ext cx="1097280" cy="10972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691640" y="1554480"/>
            <a:ext cx="7040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3D5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people receive almost none. One thank-you note makes you unforgettable.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1691640" y="2103120"/>
            <a:ext cx="7040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a client's secretary reads your note, she walks in and says: "We got a really nice thank-you note. Do you remember this person?" And the sale is half-made again.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27432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3D5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 Thank-You Notes When: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320040" y="3200400"/>
            <a:ext cx="4160520" cy="548640"/>
          </a:xfrm>
          <a:prstGeom prst="roundRect">
            <a:avLst>
              <a:gd name="adj" fmla="val 11667"/>
            </a:avLst>
          </a:prstGeom>
          <a:solidFill>
            <a:srgbClr val="FFFFFF"/>
          </a:solidFill>
          <a:ln w="12700">
            <a:solidFill>
              <a:srgbClr val="E0DDD5"/>
            </a:solidFill>
            <a:prstDash val="solid"/>
          </a:ln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502920" y="3310128"/>
            <a:ext cx="3794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any contact  </a:t>
            </a:r>
            <a:r>
              <a:rPr lang="en-US" sz="10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conversation where your product or service comes up, however briefly.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663440" y="3200400"/>
            <a:ext cx="4160520" cy="548640"/>
          </a:xfrm>
          <a:prstGeom prst="roundRect">
            <a:avLst>
              <a:gd name="adj" fmla="val 11667"/>
            </a:avLst>
          </a:prstGeom>
          <a:solidFill>
            <a:srgbClr val="FFFFFF"/>
          </a:solidFill>
          <a:ln w="12700">
            <a:solidFill>
              <a:srgbClr val="E0DDD5"/>
            </a:solidFill>
            <a:prstDash val="solid"/>
          </a:ln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4846320" y="3310128"/>
            <a:ext cx="3794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every visit  </a:t>
            </a:r>
            <a:r>
              <a:rPr lang="en-US" sz="10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Recontact — even if they didn't buy. Especially if they didn't buy.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320040" y="3858768"/>
            <a:ext cx="4160520" cy="548640"/>
          </a:xfrm>
          <a:prstGeom prst="roundRect">
            <a:avLst>
              <a:gd name="adj" fmla="val 11667"/>
            </a:avLst>
          </a:prstGeom>
          <a:solidFill>
            <a:srgbClr val="FFFFFF"/>
          </a:solidFill>
          <a:ln w="12700">
            <a:solidFill>
              <a:srgbClr val="E0DDD5"/>
            </a:solidFill>
            <a:prstDash val="solid"/>
          </a:ln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Text 11"/>
          <p:cNvSpPr/>
          <p:nvPr/>
        </p:nvSpPr>
        <p:spPr>
          <a:xfrm>
            <a:off x="502920" y="3968496"/>
            <a:ext cx="3794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referrals  </a:t>
            </a:r>
            <a:r>
              <a:rPr lang="en-US" sz="10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the person who gave you the lead — and then give them the outcome.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4663440" y="3858768"/>
            <a:ext cx="4160520" cy="548640"/>
          </a:xfrm>
          <a:prstGeom prst="roundRect">
            <a:avLst>
              <a:gd name="adj" fmla="val 11667"/>
            </a:avLst>
          </a:prstGeom>
          <a:solidFill>
            <a:srgbClr val="FFFFFF"/>
          </a:solidFill>
          <a:ln w="12700">
            <a:solidFill>
              <a:srgbClr val="E0DDD5"/>
            </a:solidFill>
            <a:prstDash val="solid"/>
          </a:ln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Text 13"/>
          <p:cNvSpPr/>
          <p:nvPr/>
        </p:nvSpPr>
        <p:spPr>
          <a:xfrm>
            <a:off x="4846320" y="3968496"/>
            <a:ext cx="3794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a sale  </a:t>
            </a:r>
            <a:r>
              <a:rPr lang="en-US" sz="10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Reinforce their decision. Buyer's remorse is real; a warm note dissolves it.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320040" y="4517136"/>
            <a:ext cx="8503920" cy="548640"/>
          </a:xfrm>
          <a:prstGeom prst="roundRect">
            <a:avLst>
              <a:gd name="adj" fmla="val 11667"/>
            </a:avLst>
          </a:prstGeom>
          <a:solidFill>
            <a:srgbClr val="FFFFFF"/>
          </a:solidFill>
          <a:ln w="12700">
            <a:solidFill>
              <a:srgbClr val="E0DDD5"/>
            </a:solidFill>
            <a:prstDash val="solid"/>
          </a:ln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Text 15"/>
          <p:cNvSpPr/>
          <p:nvPr/>
        </p:nvSpPr>
        <p:spPr>
          <a:xfrm>
            <a:off x="502920" y="4626864"/>
            <a:ext cx="8138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Cold encounters  </a:t>
            </a:r>
            <a:r>
              <a:rPr lang="en-US" sz="10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 someone at a car wash? Hand-write Thank You on your business card and follow up.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A2B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A2B4A"/>
          </a:solidFill>
          <a:ln w="12700">
            <a:solidFill>
              <a:srgbClr val="1A2B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360" y="365760"/>
            <a:ext cx="1097280" cy="109728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150876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Creed of the Champion</a:t>
            </a:r>
            <a:endParaRPr lang="en-US" sz="3600" dirty="0"/>
          </a:p>
        </p:txBody>
      </p:sp>
      <p:sp>
        <p:nvSpPr>
          <p:cNvPr id="5" name="Text 2"/>
          <p:cNvSpPr/>
          <p:nvPr/>
        </p:nvSpPr>
        <p:spPr>
          <a:xfrm>
            <a:off x="1097280" y="2331720"/>
            <a:ext cx="6949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C997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</a:t>
            </a: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never see failure as failure, but only as a learning experience.</a:t>
            </a:r>
            <a:endParaRPr lang="en-US" sz="1150" dirty="0"/>
          </a:p>
        </p:txBody>
      </p:sp>
      <p:sp>
        <p:nvSpPr>
          <p:cNvPr id="6" name="Text 3"/>
          <p:cNvSpPr/>
          <p:nvPr/>
        </p:nvSpPr>
        <p:spPr>
          <a:xfrm>
            <a:off x="1097280" y="2770632"/>
            <a:ext cx="6949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C997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</a:t>
            </a: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never see failure as failure, but only as the feedback I need to change course.</a:t>
            </a:r>
            <a:endParaRPr lang="en-US" sz="1150" dirty="0"/>
          </a:p>
        </p:txBody>
      </p:sp>
      <p:sp>
        <p:nvSpPr>
          <p:cNvPr id="7" name="Text 4"/>
          <p:cNvSpPr/>
          <p:nvPr/>
        </p:nvSpPr>
        <p:spPr>
          <a:xfrm>
            <a:off x="1097280" y="3209544"/>
            <a:ext cx="6949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C997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</a:t>
            </a: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never see failure as failure, but only as the chance to develop my sense of humor.</a:t>
            </a:r>
            <a:endParaRPr lang="en-US" sz="1150" dirty="0"/>
          </a:p>
        </p:txBody>
      </p:sp>
      <p:sp>
        <p:nvSpPr>
          <p:cNvPr id="8" name="Text 5"/>
          <p:cNvSpPr/>
          <p:nvPr/>
        </p:nvSpPr>
        <p:spPr>
          <a:xfrm>
            <a:off x="1097280" y="3648456"/>
            <a:ext cx="6949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C997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</a:t>
            </a: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never see failure as failure, but only as the opportunity to practice and perfect.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1097280" y="4087368"/>
            <a:ext cx="6949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C997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</a:t>
            </a: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never see failure as failure, but only as the game I must play to win.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1097280" y="4572000"/>
            <a:ext cx="6949440" cy="45720"/>
          </a:xfrm>
          <a:prstGeom prst="rect">
            <a:avLst/>
          </a:prstGeom>
          <a:solidFill>
            <a:srgbClr val="C9973A"/>
          </a:solidFill>
          <a:ln w="12700">
            <a:solidFill>
              <a:srgbClr val="C997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/>
          <p:nvPr/>
        </p:nvSpPr>
        <p:spPr>
          <a:xfrm>
            <a:off x="1097280" y="4709160"/>
            <a:ext cx="6949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i="1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Tom Hopkins, How to Master the Art of Selling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ED8A04D66BE8684FBBEC85605884BC7D" ma:contentTypeVersion="2" ma:contentTypeDescription="Create a new document." ma:contentTypeScope="" ma:versionID="5d967d031004b6dff6c7363eb37c2e17">
  <xsd:schema xmlns:xsd="http://www.w3.org/2001/XMLSchema" xmlns:xs="http://www.w3.org/2001/XMLSchema" xmlns:p="http://schemas.microsoft.com/office/2006/metadata/properties" xmlns:ns3="77812b97-1b5a-4e3e-8845-1c5f9290dcdf" targetNamespace="http://schemas.microsoft.com/office/2006/metadata/properties" ma:root="true" ma:fieldsID="98f7fc61514f792c17a332325e42af63" ns3:_="">
    <xsd:import namespace="77812b97-1b5a-4e3e-8845-1c5f9290dcdf"/>
    <xsd:element name="properties">
      <xsd:complexType>
        <xsd:sequence>
          <xsd:element name="documentManagement">
            <xsd:complexType>
              <xsd:all>
                <xsd:element ref="ns3:MediaServiceDateTaken" minOccurs="0"/>
                <xsd:element ref="ns3:_activity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7812b97-1b5a-4e3e-8845-1c5f9290dcdf" elementFormDefault="qualified">
    <xsd:import namespace="http://schemas.microsoft.com/office/2006/documentManagement/types"/>
    <xsd:import namespace="http://schemas.microsoft.com/office/infopath/2007/PartnerControls"/>
    <xsd:element name="MediaServiceDateTaken" ma:index="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_activity" ma:index="9" nillable="true" ma:displayName="_activity" ma:hidden="true" ma:internalName="_activity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77812b97-1b5a-4e3e-8845-1c5f9290dcdf" xsi:nil="true"/>
  </documentManagement>
</p:properties>
</file>

<file path=customXml/itemProps1.xml><?xml version="1.0" encoding="utf-8"?>
<ds:datastoreItem xmlns:ds="http://schemas.openxmlformats.org/officeDocument/2006/customXml" ds:itemID="{0E52DEFE-B571-4F9E-9931-D64765771911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7812b97-1b5a-4e3e-8845-1c5f9290dcdf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96F88424-98C1-43DB-B5CF-298BD4A0132D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491A4DBD-D080-421B-AA48-D6E9551D7926}">
  <ds:schemaRefs>
    <ds:schemaRef ds:uri="http://schemas.microsoft.com/office/2006/metadata/properties"/>
    <ds:schemaRef ds:uri="http://www.w3.org/XML/1998/namespace"/>
    <ds:schemaRef ds:uri="http://purl.org/dc/terms/"/>
    <ds:schemaRef ds:uri="http://purl.org/dc/dcmitype/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77812b97-1b5a-4e3e-8845-1c5f9290dcdf"/>
    <ds:schemaRef ds:uri="http://purl.org/dc/elements/1.1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233</TotalTime>
  <Words>2269</Words>
  <Application>Microsoft Office PowerPoint</Application>
  <PresentationFormat>On-screen Show (16:9)</PresentationFormat>
  <Paragraphs>301</Paragraphs>
  <Slides>21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5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How to Master the Art of Selling</dc:title>
  <dc:subject>PptxGenJS Presentation</dc:subject>
  <dc:creator>PptxGenJS</dc:creator>
  <cp:lastModifiedBy>Dylan Haines</cp:lastModifiedBy>
  <cp:revision>4</cp:revision>
  <dcterms:created xsi:type="dcterms:W3CDTF">2026-06-22T14:23:08Z</dcterms:created>
  <dcterms:modified xsi:type="dcterms:W3CDTF">2026-06-22T19:40:03Z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0x010100ED8A04D66BE8684FBBEC85605884BC7D</vt:lpwstr>
  </property>
</Properties>
</file>